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22"/>
    <p:restoredTop sz="94678"/>
  </p:normalViewPr>
  <p:slideViewPr>
    <p:cSldViewPr snapToGrid="0">
      <p:cViewPr varScale="1">
        <p:scale>
          <a:sx n="138" d="100"/>
          <a:sy n="138" d="100"/>
        </p:scale>
        <p:origin x="17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ackground">
            <a:extLst>
              <a:ext uri="{FF2B5EF4-FFF2-40B4-BE49-F238E27FC236}">
                <a16:creationId xmlns:a16="http://schemas.microsoft.com/office/drawing/2014/main" id="{E713ADED-94AF-427D-8CED-0D1E2AE6BB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3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1F090A-D0D0-458E-89F1-6C9B5D70C40C}"/>
              </a:ext>
            </a:extLst>
          </p:cNvPr>
          <p:cNvSpPr>
            <a:spLocks noGrp="1"/>
          </p:cNvSpPr>
          <p:nvPr/>
        </p:nvSpPr>
        <p:spPr>
          <a:xfrm>
            <a:off x="666750" y="6667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B7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B78F"/>
                </a:solidFill>
                <a:latin typeface="Aptos"/>
                <a:ea typeface="Aptos"/>
                <a:cs typeface="Aptos"/>
              </a:rPr>
              <a:t>TECHNICAL WALKTHROUGH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8D77EE-A800-45AA-A2E5-19E1D363E9DA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7239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Multivariate Regression in 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045CE7-B2F8-4F59-90DC-D94EAAF4B614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666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7DE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EE8"/>
                </a:solidFill>
                <a:latin typeface="Aptos"/>
                <a:ea typeface="Aptos"/>
                <a:cs typeface="Aptos"/>
              </a:rPr>
              <a:t>From raw challenge files to validated blind-test predictions</a:t>
            </a:r>
          </a:p>
        </p:txBody>
      </p:sp>
      <p:sp>
        <p:nvSpPr>
          <p:cNvPr id="5" name="metric-labeled rows">
            <a:extLst>
              <a:ext uri="{FF2B5EF4-FFF2-40B4-BE49-F238E27FC236}">
                <a16:creationId xmlns:a16="http://schemas.microsoft.com/office/drawing/2014/main" id="{33881C50-5416-45E5-84C6-1C9F9931AA78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1619250" cy="952500"/>
          </a:xfrm>
          <a:prstGeom prst="rect">
            <a:avLst/>
          </a:prstGeom>
          <a:solidFill>
            <a:srgbClr val="203241"/>
          </a:solidFill>
          <a:ln w="9525">
            <a:solidFill>
              <a:srgbClr val="32485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A67880-6008-4F01-A964-858C7A64D413}"/>
              </a:ext>
            </a:extLst>
          </p:cNvPr>
          <p:cNvSpPr>
            <a:spLocks noGrp="1"/>
          </p:cNvSpPr>
          <p:nvPr/>
        </p:nvSpPr>
        <p:spPr>
          <a:xfrm>
            <a:off x="857250" y="3790950"/>
            <a:ext cx="1276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5B78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B78F"/>
                </a:solidFill>
                <a:latin typeface="Aptos Display"/>
                <a:ea typeface="Aptos Display"/>
                <a:cs typeface="Aptos Display"/>
              </a:rPr>
              <a:t>800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E0FC93-0DF8-475F-808C-C664A1C4969F}"/>
              </a:ext>
            </a:extLst>
          </p:cNvPr>
          <p:cNvSpPr>
            <a:spLocks noGrp="1"/>
          </p:cNvSpPr>
          <p:nvPr/>
        </p:nvSpPr>
        <p:spPr>
          <a:xfrm>
            <a:off x="857250" y="41910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labeled rows</a:t>
            </a:r>
          </a:p>
        </p:txBody>
      </p:sp>
      <p:sp>
        <p:nvSpPr>
          <p:cNvPr id="8" name="metric-blind-test rows">
            <a:extLst>
              <a:ext uri="{FF2B5EF4-FFF2-40B4-BE49-F238E27FC236}">
                <a16:creationId xmlns:a16="http://schemas.microsoft.com/office/drawing/2014/main" id="{494D9772-8472-4F0E-BE52-0D9B613D1928}"/>
              </a:ext>
            </a:extLst>
          </p:cNvPr>
          <p:cNvSpPr>
            <a:spLocks noGrp="1"/>
          </p:cNvSpPr>
          <p:nvPr/>
        </p:nvSpPr>
        <p:spPr>
          <a:xfrm>
            <a:off x="2571750" y="3638550"/>
            <a:ext cx="1619250" cy="952500"/>
          </a:xfrm>
          <a:prstGeom prst="rect">
            <a:avLst/>
          </a:prstGeom>
          <a:solidFill>
            <a:srgbClr val="203241"/>
          </a:solidFill>
          <a:ln w="9525">
            <a:solidFill>
              <a:srgbClr val="32485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C01D2F-3262-4763-94D0-2CEC62A4620B}"/>
              </a:ext>
            </a:extLst>
          </p:cNvPr>
          <p:cNvSpPr>
            <a:spLocks noGrp="1"/>
          </p:cNvSpPr>
          <p:nvPr/>
        </p:nvSpPr>
        <p:spPr>
          <a:xfrm>
            <a:off x="2743200" y="3790950"/>
            <a:ext cx="1276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5B78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B78F"/>
                </a:solidFill>
                <a:latin typeface="Aptos Display"/>
                <a:ea typeface="Aptos Display"/>
                <a:cs typeface="Aptos Display"/>
              </a:rPr>
              <a:t>200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F5C5AD-6662-4BED-949D-24EDD70CB83E}"/>
              </a:ext>
            </a:extLst>
          </p:cNvPr>
          <p:cNvSpPr>
            <a:spLocks noGrp="1"/>
          </p:cNvSpPr>
          <p:nvPr/>
        </p:nvSpPr>
        <p:spPr>
          <a:xfrm>
            <a:off x="2743200" y="41910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blind-test rows</a:t>
            </a:r>
          </a:p>
        </p:txBody>
      </p:sp>
      <p:sp>
        <p:nvSpPr>
          <p:cNvPr id="11" name="metric-features">
            <a:extLst>
              <a:ext uri="{FF2B5EF4-FFF2-40B4-BE49-F238E27FC236}">
                <a16:creationId xmlns:a16="http://schemas.microsoft.com/office/drawing/2014/main" id="{19F6CDBC-6338-48F0-9435-02030869D83F}"/>
              </a:ext>
            </a:extLst>
          </p:cNvPr>
          <p:cNvSpPr>
            <a:spLocks noGrp="1"/>
          </p:cNvSpPr>
          <p:nvPr/>
        </p:nvSpPr>
        <p:spPr>
          <a:xfrm>
            <a:off x="4457700" y="3638550"/>
            <a:ext cx="1619250" cy="952500"/>
          </a:xfrm>
          <a:prstGeom prst="rect">
            <a:avLst/>
          </a:prstGeom>
          <a:solidFill>
            <a:srgbClr val="203241"/>
          </a:solidFill>
          <a:ln w="9525">
            <a:solidFill>
              <a:srgbClr val="32485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007B1F-7C71-4C61-9D77-85B3A05CEC3B}"/>
              </a:ext>
            </a:extLst>
          </p:cNvPr>
          <p:cNvSpPr>
            <a:spLocks noGrp="1"/>
          </p:cNvSpPr>
          <p:nvPr/>
        </p:nvSpPr>
        <p:spPr>
          <a:xfrm>
            <a:off x="4629150" y="3790950"/>
            <a:ext cx="1276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5B78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B78F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E5EE98-2D97-4B84-8ED6-624A07099FF5}"/>
              </a:ext>
            </a:extLst>
          </p:cNvPr>
          <p:cNvSpPr>
            <a:spLocks noGrp="1"/>
          </p:cNvSpPr>
          <p:nvPr/>
        </p:nvSpPr>
        <p:spPr>
          <a:xfrm>
            <a:off x="4629150" y="41910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14" name="metric-final column">
            <a:extLst>
              <a:ext uri="{FF2B5EF4-FFF2-40B4-BE49-F238E27FC236}">
                <a16:creationId xmlns:a16="http://schemas.microsoft.com/office/drawing/2014/main" id="{303E62C5-00F0-4557-8530-38EFFCD8831E}"/>
              </a:ext>
            </a:extLst>
          </p:cNvPr>
          <p:cNvSpPr>
            <a:spLocks noGrp="1"/>
          </p:cNvSpPr>
          <p:nvPr/>
        </p:nvSpPr>
        <p:spPr>
          <a:xfrm>
            <a:off x="6343650" y="3638550"/>
            <a:ext cx="2190750" cy="952500"/>
          </a:xfrm>
          <a:prstGeom prst="rect">
            <a:avLst/>
          </a:prstGeom>
          <a:solidFill>
            <a:srgbClr val="203241"/>
          </a:solidFill>
          <a:ln w="9525">
            <a:solidFill>
              <a:srgbClr val="32485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33A0E4-D135-45F1-A8F8-7E1FC5695D7F}"/>
              </a:ext>
            </a:extLst>
          </p:cNvPr>
          <p:cNvSpPr>
            <a:spLocks noGrp="1"/>
          </p:cNvSpPr>
          <p:nvPr/>
        </p:nvSpPr>
        <p:spPr>
          <a:xfrm>
            <a:off x="6515100" y="3790950"/>
            <a:ext cx="1847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5B78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B78F"/>
                </a:solidFill>
                <a:latin typeface="Aptos Display"/>
                <a:ea typeface="Aptos Display"/>
                <a:cs typeface="Aptos Display"/>
              </a:rPr>
              <a:t>target_pred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F5E86E-6A31-4B0B-BB35-395A1B542837}"/>
              </a:ext>
            </a:extLst>
          </p:cNvPr>
          <p:cNvSpPr>
            <a:spLocks noGrp="1"/>
          </p:cNvSpPr>
          <p:nvPr/>
        </p:nvSpPr>
        <p:spPr>
          <a:xfrm>
            <a:off x="6515100" y="4191000"/>
            <a:ext cx="1847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final column</a:t>
            </a:r>
          </a:p>
        </p:txBody>
      </p:sp>
      <p:sp>
        <p:nvSpPr>
          <p:cNvPr id="20" name="page-marker">
            <a:extLst>
              <a:ext uri="{FF2B5EF4-FFF2-40B4-BE49-F238E27FC236}">
                <a16:creationId xmlns:a16="http://schemas.microsoft.com/office/drawing/2014/main" id="{E36A6184-DF1A-47DB-8392-C5A61149C341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D7DE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EE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028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ackground">
            <a:extLst>
              <a:ext uri="{FF2B5EF4-FFF2-40B4-BE49-F238E27FC236}">
                <a16:creationId xmlns:a16="http://schemas.microsoft.com/office/drawing/2014/main" id="{EDF9C269-BA25-4EC5-9104-E7C8B3F977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00B6B576-7107-4221-A0BB-B114ECAE204B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85F981B-44A9-491E-A527-D9E490715E3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EXECUTIVE THESIS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1ADFBEDC-00E0-453C-B09A-63894AAF8993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CF415621-2258-42D1-A16F-CD72579322A7}"/>
              </a:ext>
            </a:extLst>
          </p:cNvPr>
          <p:cNvSpPr>
            <a:spLocks noGrp="1"/>
          </p:cNvSpPr>
          <p:nvPr/>
        </p:nvSpPr>
        <p:spPr>
          <a:xfrm>
            <a:off x="6286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b="1" dirty="0"/>
              <a:t>Model selection used 5-fold cross-validation; the holdout was reserved for final validation.</a:t>
            </a:r>
            <a:endParaRPr lang="en-US" dirty="0"/>
          </a:p>
          <a:p>
            <a:br>
              <a:rPr lang="en-US" sz="2400" dirty="0"/>
            </a:br>
            <a:endParaRPr sz="2400" b="1" dirty="0">
              <a:solidFill>
                <a:srgbClr val="16232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326FA0DC-1DB0-493B-A621-4246AB9564EE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workflow keeps exploration, selection, final validation, and blind-test scoring in separate stages.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672D7E04-15FD-4140-9F3E-276191A3E331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AF9912-8385-4526-A496-16E787AAFB70}"/>
              </a:ext>
            </a:extLst>
          </p:cNvPr>
          <p:cNvSpPr>
            <a:spLocks noGrp="1"/>
          </p:cNvSpPr>
          <p:nvPr/>
        </p:nvSpPr>
        <p:spPr>
          <a:xfrm>
            <a:off x="762000" y="2438400"/>
            <a:ext cx="66675" cy="66675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A5AE56-F6D6-4C97-868E-D830712FA4ED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571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Raw files were imported as character data first, then parsed and validated.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4055F7-9076-43F6-9E17-83A987D53903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66675" cy="66675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D17D02-7376-4830-B673-1C167447A65E}"/>
              </a:ext>
            </a:extLst>
          </p:cNvPr>
          <p:cNvSpPr>
            <a:spLocks noGrp="1"/>
          </p:cNvSpPr>
          <p:nvPr/>
        </p:nvSpPr>
        <p:spPr>
          <a:xfrm>
            <a:off x="952500" y="2781300"/>
            <a:ext cx="571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6232E"/>
                </a:solidFill>
                <a:latin typeface="Aptos"/>
                <a:ea typeface="Aptos"/>
                <a:cs typeface="Aptos"/>
              </a:rPr>
              <a:t>Model families were compared with 5-fold cross-validation on the training split.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2F3E79-2E24-4B7C-BEE0-3937C1F83BD8}"/>
              </a:ext>
            </a:extLst>
          </p:cNvPr>
          <p:cNvSpPr>
            <a:spLocks noGrp="1"/>
          </p:cNvSpPr>
          <p:nvPr/>
        </p:nvSpPr>
        <p:spPr>
          <a:xfrm>
            <a:off x="762000" y="3276600"/>
            <a:ext cx="66675" cy="66675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47446C-6B55-4A10-ACCB-E3A8EB0D51BA}"/>
              </a:ext>
            </a:extLst>
          </p:cNvPr>
          <p:cNvSpPr>
            <a:spLocks noGrp="1"/>
          </p:cNvSpPr>
          <p:nvPr/>
        </p:nvSpPr>
        <p:spPr>
          <a:xfrm>
            <a:off x="952500" y="3200400"/>
            <a:ext cx="571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Random Forest won the family-level CV ranking with the lowest RMSE.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494755-B362-4FEE-85C9-68AA99DB8080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66675" cy="66675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BDD32D-6399-4485-BAF3-F4765CCB76C6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571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The holdout set was used once afterward for final confirmation.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6DB189-27D8-4B9C-A6E8-84363B04962A}"/>
              </a:ext>
            </a:extLst>
          </p:cNvPr>
          <p:cNvSpPr>
            <a:spLocks noGrp="1"/>
          </p:cNvSpPr>
          <p:nvPr/>
        </p:nvSpPr>
        <p:spPr>
          <a:xfrm>
            <a:off x="762000" y="4114800"/>
            <a:ext cx="66675" cy="66675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44550E-7205-4FF7-95E1-688941D6615F}"/>
              </a:ext>
            </a:extLst>
          </p:cNvPr>
          <p:cNvSpPr>
            <a:spLocks noGrp="1"/>
          </p:cNvSpPr>
          <p:nvPr/>
        </p:nvSpPr>
        <p:spPr>
          <a:xfrm>
            <a:off x="952500" y="4038600"/>
            <a:ext cx="571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The selected workflow generated a one-column blind-test CSV.</a:t>
            </a:r>
          </a:p>
        </p:txBody>
      </p:sp>
      <p:sp>
        <p:nvSpPr>
          <p:cNvPr id="19" name="metric-winning CV RMSE">
            <a:extLst>
              <a:ext uri="{FF2B5EF4-FFF2-40B4-BE49-F238E27FC236}">
                <a16:creationId xmlns:a16="http://schemas.microsoft.com/office/drawing/2014/main" id="{FD3D00CD-31D4-4EB3-A337-02EBBBBC48CF}"/>
              </a:ext>
            </a:extLst>
          </p:cNvPr>
          <p:cNvSpPr>
            <a:spLocks noGrp="1"/>
          </p:cNvSpPr>
          <p:nvPr/>
        </p:nvSpPr>
        <p:spPr>
          <a:xfrm>
            <a:off x="7429500" y="2381250"/>
            <a:ext cx="1714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EEA646-4D06-4047-8C6D-8FD87B5AD46C}"/>
              </a:ext>
            </a:extLst>
          </p:cNvPr>
          <p:cNvSpPr>
            <a:spLocks noGrp="1"/>
          </p:cNvSpPr>
          <p:nvPr/>
        </p:nvSpPr>
        <p:spPr>
          <a:xfrm>
            <a:off x="7600950" y="2533650"/>
            <a:ext cx="1371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95F0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95F0E"/>
                </a:solidFill>
                <a:latin typeface="Aptos Display"/>
                <a:ea typeface="Aptos Display"/>
                <a:cs typeface="Aptos Display"/>
              </a:rPr>
              <a:t>2.616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6477B9-FECB-4C57-A132-EA954770E556}"/>
              </a:ext>
            </a:extLst>
          </p:cNvPr>
          <p:cNvSpPr>
            <a:spLocks noGrp="1"/>
          </p:cNvSpPr>
          <p:nvPr/>
        </p:nvSpPr>
        <p:spPr>
          <a:xfrm>
            <a:off x="7600950" y="2933700"/>
            <a:ext cx="1371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winning CV RMSE</a:t>
            </a:r>
          </a:p>
        </p:txBody>
      </p:sp>
      <p:sp>
        <p:nvSpPr>
          <p:cNvPr id="22" name="metric-holdout RMSE">
            <a:extLst>
              <a:ext uri="{FF2B5EF4-FFF2-40B4-BE49-F238E27FC236}">
                <a16:creationId xmlns:a16="http://schemas.microsoft.com/office/drawing/2014/main" id="{7EA4EF09-21A8-4570-A098-588671B0F25F}"/>
              </a:ext>
            </a:extLst>
          </p:cNvPr>
          <p:cNvSpPr>
            <a:spLocks noGrp="1"/>
          </p:cNvSpPr>
          <p:nvPr/>
        </p:nvSpPr>
        <p:spPr>
          <a:xfrm>
            <a:off x="9429750" y="2381250"/>
            <a:ext cx="1714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4F3829-8D31-4878-89A2-5811B23C951D}"/>
              </a:ext>
            </a:extLst>
          </p:cNvPr>
          <p:cNvSpPr>
            <a:spLocks noGrp="1"/>
          </p:cNvSpPr>
          <p:nvPr/>
        </p:nvSpPr>
        <p:spPr>
          <a:xfrm>
            <a:off x="9601200" y="2533650"/>
            <a:ext cx="1371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rPr>
              <a:t>2.523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333B9A-0458-4CA2-8015-7C93EFBB544E}"/>
              </a:ext>
            </a:extLst>
          </p:cNvPr>
          <p:cNvSpPr>
            <a:spLocks noGrp="1"/>
          </p:cNvSpPr>
          <p:nvPr/>
        </p:nvSpPr>
        <p:spPr>
          <a:xfrm>
            <a:off x="9601200" y="2933700"/>
            <a:ext cx="1371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holdout RMSE</a:t>
            </a:r>
          </a:p>
        </p:txBody>
      </p:sp>
      <p:sp>
        <p:nvSpPr>
          <p:cNvPr id="25" name="metric-holdout R^2">
            <a:extLst>
              <a:ext uri="{FF2B5EF4-FFF2-40B4-BE49-F238E27FC236}">
                <a16:creationId xmlns:a16="http://schemas.microsoft.com/office/drawing/2014/main" id="{4324BB43-AFDB-4B5A-B93C-0164A4455E50}"/>
              </a:ext>
            </a:extLst>
          </p:cNvPr>
          <p:cNvSpPr>
            <a:spLocks noGrp="1"/>
          </p:cNvSpPr>
          <p:nvPr/>
        </p:nvSpPr>
        <p:spPr>
          <a:xfrm>
            <a:off x="7429500" y="3638550"/>
            <a:ext cx="1714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666EE5-BD50-4A73-AA1F-140AA6759F34}"/>
              </a:ext>
            </a:extLst>
          </p:cNvPr>
          <p:cNvSpPr>
            <a:spLocks noGrp="1"/>
          </p:cNvSpPr>
          <p:nvPr/>
        </p:nvSpPr>
        <p:spPr>
          <a:xfrm>
            <a:off x="7600950" y="3790950"/>
            <a:ext cx="1371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166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166AC"/>
                </a:solidFill>
                <a:latin typeface="Aptos Display"/>
                <a:ea typeface="Aptos Display"/>
                <a:cs typeface="Aptos Display"/>
              </a:rPr>
              <a:t>0.745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A3E753C-7592-45D1-AA3C-FF71022BB51D}"/>
              </a:ext>
            </a:extLst>
          </p:cNvPr>
          <p:cNvSpPr>
            <a:spLocks noGrp="1"/>
          </p:cNvSpPr>
          <p:nvPr/>
        </p:nvSpPr>
        <p:spPr>
          <a:xfrm>
            <a:off x="7600950" y="4191000"/>
            <a:ext cx="1371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holdout R^2</a:t>
            </a:r>
          </a:p>
        </p:txBody>
      </p:sp>
      <p:sp>
        <p:nvSpPr>
          <p:cNvPr id="28" name="metric-submission rows">
            <a:extLst>
              <a:ext uri="{FF2B5EF4-FFF2-40B4-BE49-F238E27FC236}">
                <a16:creationId xmlns:a16="http://schemas.microsoft.com/office/drawing/2014/main" id="{9D5843F4-9439-409F-AE10-12B4B271708D}"/>
              </a:ext>
            </a:extLst>
          </p:cNvPr>
          <p:cNvSpPr>
            <a:spLocks noGrp="1"/>
          </p:cNvSpPr>
          <p:nvPr/>
        </p:nvSpPr>
        <p:spPr>
          <a:xfrm>
            <a:off x="9429750" y="3638550"/>
            <a:ext cx="1714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9B74E5-D8CB-4823-8210-3671A0117897}"/>
              </a:ext>
            </a:extLst>
          </p:cNvPr>
          <p:cNvSpPr>
            <a:spLocks noGrp="1"/>
          </p:cNvSpPr>
          <p:nvPr/>
        </p:nvSpPr>
        <p:spPr>
          <a:xfrm>
            <a:off x="9601200" y="3790950"/>
            <a:ext cx="1371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C3E5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C3E50"/>
                </a:solidFill>
                <a:latin typeface="Aptos Display"/>
                <a:ea typeface="Aptos Display"/>
                <a:cs typeface="Aptos Display"/>
              </a:rPr>
              <a:t>200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12F00B-18F4-4552-BB52-4F0D130BC6AE}"/>
              </a:ext>
            </a:extLst>
          </p:cNvPr>
          <p:cNvSpPr>
            <a:spLocks noGrp="1"/>
          </p:cNvSpPr>
          <p:nvPr/>
        </p:nvSpPr>
        <p:spPr>
          <a:xfrm>
            <a:off x="9601200" y="4191000"/>
            <a:ext cx="1371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submission rows</a:t>
            </a:r>
          </a:p>
        </p:txBody>
      </p:sp>
    </p:spTree>
    <p:extLst>
      <p:ext uri="{BB962C8B-B14F-4D97-AF65-F5344CB8AC3E}">
        <p14:creationId xmlns:p14="http://schemas.microsoft.com/office/powerpoint/2010/main" val="1761220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marker">
            <a:extLst>
              <a:ext uri="{FF2B5EF4-FFF2-40B4-BE49-F238E27FC236}">
                <a16:creationId xmlns:a16="http://schemas.microsoft.com/office/drawing/2014/main" id="{639FAA7E-18B1-4A88-9612-1C167B4403A9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F7651FC-346D-4129-BD11-657F052760C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CHALLENGE OBJECTIVE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C7F9988C-EE77-4D58-858D-D9EF2457B92D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C3474FF9-FEF6-4836-92C1-6C0622EC4198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dirty="0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The deliverable is a defensible regression model and a submission-ready CSV.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12E8AD5-5A11-4699-AEB8-D39B31E5E10B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project translates the hiring challenge into five concrete technical obligations.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3C99A5F2-CF81-4620-AFBC-3B99CA97C021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B9F735-8951-4EE3-A3F0-AFFEEBD2A7F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10382250" cy="495300"/>
          </a:xfrm>
          <a:prstGeom prst="rect">
            <a:avLst/>
          </a:prstGeom>
          <a:solidFill>
            <a:srgbClr val="16232E"/>
          </a:solidFill>
          <a:ln w="9525">
            <a:solidFill>
              <a:srgbClr val="16232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63C6F1-5F0E-47F7-8198-93CABB65D22E}"/>
              </a:ext>
            </a:extLst>
          </p:cNvPr>
          <p:cNvSpPr>
            <a:spLocks noGrp="1"/>
          </p:cNvSpPr>
          <p:nvPr/>
        </p:nvSpPr>
        <p:spPr>
          <a:xfrm>
            <a:off x="990600" y="23622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9B0482-3AE9-4928-A42E-94D1EA9A945D}"/>
              </a:ext>
            </a:extLst>
          </p:cNvPr>
          <p:cNvSpPr>
            <a:spLocks noGrp="1"/>
          </p:cNvSpPr>
          <p:nvPr/>
        </p:nvSpPr>
        <p:spPr>
          <a:xfrm>
            <a:off x="4451350" y="23622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Requirement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42631E-FDF5-4AE3-91BC-27F593E6E76D}"/>
              </a:ext>
            </a:extLst>
          </p:cNvPr>
          <p:cNvSpPr>
            <a:spLocks noGrp="1"/>
          </p:cNvSpPr>
          <p:nvPr/>
        </p:nvSpPr>
        <p:spPr>
          <a:xfrm>
            <a:off x="7912100" y="23622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Notebook response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1DD883-1425-43A7-B9D9-DC069D8C7DE8}"/>
              </a:ext>
            </a:extLst>
          </p:cNvPr>
          <p:cNvSpPr>
            <a:spLocks noGrp="1"/>
          </p:cNvSpPr>
          <p:nvPr/>
        </p:nvSpPr>
        <p:spPr>
          <a:xfrm>
            <a:off x="876300" y="2762250"/>
            <a:ext cx="10382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6B93D4-A9FD-480C-904A-AB4BB4138DD3}"/>
              </a:ext>
            </a:extLst>
          </p:cNvPr>
          <p:cNvSpPr>
            <a:spLocks noGrp="1"/>
          </p:cNvSpPr>
          <p:nvPr/>
        </p:nvSpPr>
        <p:spPr>
          <a:xfrm>
            <a:off x="990600" y="28575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FFC100-20B3-4C7F-B22F-772446A3AB3A}"/>
              </a:ext>
            </a:extLst>
          </p:cNvPr>
          <p:cNvSpPr>
            <a:spLocks noGrp="1"/>
          </p:cNvSpPr>
          <p:nvPr/>
        </p:nvSpPr>
        <p:spPr>
          <a:xfrm>
            <a:off x="4451350" y="28575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Audit preprocessing need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70B7E5-108D-4798-9881-95B6D925A6AA}"/>
              </a:ext>
            </a:extLst>
          </p:cNvPr>
          <p:cNvSpPr>
            <a:spLocks noGrp="1"/>
          </p:cNvSpPr>
          <p:nvPr/>
        </p:nvSpPr>
        <p:spPr>
          <a:xfrm>
            <a:off x="7912100" y="28575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Validate file shape, types, missingness, duplicates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CB5386-7182-45A9-A85A-64EF78CB45D2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10382250" cy="495300"/>
          </a:xfrm>
          <a:prstGeom prst="rect">
            <a:avLst/>
          </a:prstGeom>
          <a:solidFill>
            <a:srgbClr val="FBF9F5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4DBDEA-565A-4085-BBBA-E8049BE15D0D}"/>
              </a:ext>
            </a:extLst>
          </p:cNvPr>
          <p:cNvSpPr>
            <a:spLocks noGrp="1"/>
          </p:cNvSpPr>
          <p:nvPr/>
        </p:nvSpPr>
        <p:spPr>
          <a:xfrm>
            <a:off x="990600" y="33528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C23EF0-7B55-4367-9212-3BBCE6F5211B}"/>
              </a:ext>
            </a:extLst>
          </p:cNvPr>
          <p:cNvSpPr>
            <a:spLocks noGrp="1"/>
          </p:cNvSpPr>
          <p:nvPr/>
        </p:nvSpPr>
        <p:spPr>
          <a:xfrm>
            <a:off x="4451350" y="33528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Discuss feature selection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6A6C76-F7AC-457B-9544-DB474955BD52}"/>
              </a:ext>
            </a:extLst>
          </p:cNvPr>
          <p:cNvSpPr>
            <a:spLocks noGrp="1"/>
          </p:cNvSpPr>
          <p:nvPr/>
        </p:nvSpPr>
        <p:spPr>
          <a:xfrm>
            <a:off x="7912100" y="33528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Compare full features, PCA, and lasso-style sparsity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8BA86F-2195-4558-82BF-4AD4928ACD0F}"/>
              </a:ext>
            </a:extLst>
          </p:cNvPr>
          <p:cNvSpPr>
            <a:spLocks noGrp="1"/>
          </p:cNvSpPr>
          <p:nvPr/>
        </p:nvSpPr>
        <p:spPr>
          <a:xfrm>
            <a:off x="876300" y="3752850"/>
            <a:ext cx="10382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21CE77-C025-4151-B8B8-203E401BB518}"/>
              </a:ext>
            </a:extLst>
          </p:cNvPr>
          <p:cNvSpPr>
            <a:spLocks noGrp="1"/>
          </p:cNvSpPr>
          <p:nvPr/>
        </p:nvSpPr>
        <p:spPr>
          <a:xfrm>
            <a:off x="990600" y="38481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2782CC-C8FF-4C49-8C90-2657C1FDB491}"/>
              </a:ext>
            </a:extLst>
          </p:cNvPr>
          <p:cNvSpPr>
            <a:spLocks noGrp="1"/>
          </p:cNvSpPr>
          <p:nvPr/>
        </p:nvSpPr>
        <p:spPr>
          <a:xfrm>
            <a:off x="4451350" y="38481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Train candidate regressors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790CB6-A5B2-44C6-8A9C-581D882A3F0B}"/>
              </a:ext>
            </a:extLst>
          </p:cNvPr>
          <p:cNvSpPr>
            <a:spLocks noGrp="1"/>
          </p:cNvSpPr>
          <p:nvPr/>
        </p:nvSpPr>
        <p:spPr>
          <a:xfrm>
            <a:off x="7912100" y="38481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OLS, ridge, lasso, elastic net, random forest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C73B94-4EA0-4D21-BCF6-B138668B11FC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0382250" cy="495300"/>
          </a:xfrm>
          <a:prstGeom prst="rect">
            <a:avLst/>
          </a:prstGeom>
          <a:solidFill>
            <a:srgbClr val="FBF9F5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77E22C-83CC-4A34-A892-198AC1143053}"/>
              </a:ext>
            </a:extLst>
          </p:cNvPr>
          <p:cNvSpPr>
            <a:spLocks noGrp="1"/>
          </p:cNvSpPr>
          <p:nvPr/>
        </p:nvSpPr>
        <p:spPr>
          <a:xfrm>
            <a:off x="990600" y="43434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3C7E7F-422A-486C-8106-5082C9BFA033}"/>
              </a:ext>
            </a:extLst>
          </p:cNvPr>
          <p:cNvSpPr>
            <a:spLocks noGrp="1"/>
          </p:cNvSpPr>
          <p:nvPr/>
        </p:nvSpPr>
        <p:spPr>
          <a:xfrm>
            <a:off x="4451350" y="43434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Control overfitting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D2FBAC-70F9-4869-8EE6-CB7E84D94512}"/>
              </a:ext>
            </a:extLst>
          </p:cNvPr>
          <p:cNvSpPr>
            <a:spLocks noGrp="1"/>
          </p:cNvSpPr>
          <p:nvPr/>
        </p:nvSpPr>
        <p:spPr>
          <a:xfrm>
            <a:off x="7912100" y="43434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Train/test split plus CV-based model selection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E40114-E43F-4EBE-929E-A141D24F84A3}"/>
              </a:ext>
            </a:extLst>
          </p:cNvPr>
          <p:cNvSpPr>
            <a:spLocks noGrp="1"/>
          </p:cNvSpPr>
          <p:nvPr/>
        </p:nvSpPr>
        <p:spPr>
          <a:xfrm>
            <a:off x="876300" y="4743450"/>
            <a:ext cx="103822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ADDBE7-2D94-49D7-9554-D98FEB2E4F91}"/>
              </a:ext>
            </a:extLst>
          </p:cNvPr>
          <p:cNvSpPr>
            <a:spLocks noGrp="1"/>
          </p:cNvSpPr>
          <p:nvPr/>
        </p:nvSpPr>
        <p:spPr>
          <a:xfrm>
            <a:off x="990600" y="48387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2F0C14-CB6C-4ABA-9121-04D26F17A60D}"/>
              </a:ext>
            </a:extLst>
          </p:cNvPr>
          <p:cNvSpPr>
            <a:spLocks noGrp="1"/>
          </p:cNvSpPr>
          <p:nvPr/>
        </p:nvSpPr>
        <p:spPr>
          <a:xfrm>
            <a:off x="4451350" y="48387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Score blind test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FFF446-3746-48A5-B2DD-7523280BA42F}"/>
              </a:ext>
            </a:extLst>
          </p:cNvPr>
          <p:cNvSpPr>
            <a:spLocks noGrp="1"/>
          </p:cNvSpPr>
          <p:nvPr/>
        </p:nvSpPr>
        <p:spPr>
          <a:xfrm>
            <a:off x="7912100" y="4838700"/>
            <a:ext cx="3232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Export target_pred for 200 unseen rows</a:t>
            </a:r>
          </a:p>
        </p:txBody>
      </p:sp>
    </p:spTree>
    <p:extLst>
      <p:ext uri="{BB962C8B-B14F-4D97-AF65-F5344CB8AC3E}">
        <p14:creationId xmlns:p14="http://schemas.microsoft.com/office/powerpoint/2010/main" val="1684251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ackground">
            <a:extLst>
              <a:ext uri="{FF2B5EF4-FFF2-40B4-BE49-F238E27FC236}">
                <a16:creationId xmlns:a16="http://schemas.microsoft.com/office/drawing/2014/main" id="{591482EE-B551-43C3-BD51-8F32648EE0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5D2A156C-3343-435E-B5DE-91C89167E241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C80B2193-C06E-402A-A1B3-84B92FBC560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METHODOLOGY MAP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A0A56B7D-1ED3-4903-B132-79918EC2110E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3962390F-759D-46A8-9B6B-F1518A718FC5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CRISP-DM turns the notebook into an auditable sequence.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57BC5B38-6585-449B-A936-2720F9C8CBCD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Every phase has a specific proof object and handoff.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F805A04D-F240-4038-ADBF-07FD57C4FDB1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node-Business&#10;Understanding">
            <a:extLst>
              <a:ext uri="{FF2B5EF4-FFF2-40B4-BE49-F238E27FC236}">
                <a16:creationId xmlns:a16="http://schemas.microsoft.com/office/drawing/2014/main" id="{B37CD371-E77B-4B61-B0AD-057417C191E8}"/>
              </a:ext>
            </a:extLst>
          </p:cNvPr>
          <p:cNvSpPr>
            <a:spLocks noGrp="1"/>
          </p:cNvSpPr>
          <p:nvPr/>
        </p:nvSpPr>
        <p:spPr>
          <a:xfrm>
            <a:off x="590550" y="2952750"/>
            <a:ext cx="1428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DC4220-C8FE-44E2-842D-D3B9FAE523E4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1162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Business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Understanding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10817-1B66-4FF4-9E4D-AC40BCB04090}"/>
              </a:ext>
            </a:extLst>
          </p:cNvPr>
          <p:cNvSpPr>
            <a:spLocks noGrp="1"/>
          </p:cNvSpPr>
          <p:nvPr/>
        </p:nvSpPr>
        <p:spPr>
          <a:xfrm>
            <a:off x="2076450" y="32766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2" name="node-Data&#10;Understanding">
            <a:extLst>
              <a:ext uri="{FF2B5EF4-FFF2-40B4-BE49-F238E27FC236}">
                <a16:creationId xmlns:a16="http://schemas.microsoft.com/office/drawing/2014/main" id="{F9B2ED2A-3E36-4E8B-95C6-9BF12358730D}"/>
              </a:ext>
            </a:extLst>
          </p:cNvPr>
          <p:cNvSpPr>
            <a:spLocks noGrp="1"/>
          </p:cNvSpPr>
          <p:nvPr/>
        </p:nvSpPr>
        <p:spPr>
          <a:xfrm>
            <a:off x="2476500" y="2952750"/>
            <a:ext cx="1428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285522-11DC-47C2-B516-89DDCF18E1FF}"/>
              </a:ext>
            </a:extLst>
          </p:cNvPr>
          <p:cNvSpPr>
            <a:spLocks noGrp="1"/>
          </p:cNvSpPr>
          <p:nvPr/>
        </p:nvSpPr>
        <p:spPr>
          <a:xfrm>
            <a:off x="2609850" y="3105150"/>
            <a:ext cx="1162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Data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Understanding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D9F1E3-F015-4DB0-8F80-70C9DC1E5B39}"/>
              </a:ext>
            </a:extLst>
          </p:cNvPr>
          <p:cNvSpPr>
            <a:spLocks noGrp="1"/>
          </p:cNvSpPr>
          <p:nvPr/>
        </p:nvSpPr>
        <p:spPr>
          <a:xfrm>
            <a:off x="3962400" y="32766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node-Data&#10;Preparation">
            <a:extLst>
              <a:ext uri="{FF2B5EF4-FFF2-40B4-BE49-F238E27FC236}">
                <a16:creationId xmlns:a16="http://schemas.microsoft.com/office/drawing/2014/main" id="{54AB91D4-D445-4D3E-AD5C-5793AE046474}"/>
              </a:ext>
            </a:extLst>
          </p:cNvPr>
          <p:cNvSpPr>
            <a:spLocks noGrp="1"/>
          </p:cNvSpPr>
          <p:nvPr/>
        </p:nvSpPr>
        <p:spPr>
          <a:xfrm>
            <a:off x="4362450" y="2952750"/>
            <a:ext cx="1428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E1B89E-F3FF-4390-811A-7C52BF683D1C}"/>
              </a:ext>
            </a:extLst>
          </p:cNvPr>
          <p:cNvSpPr>
            <a:spLocks noGrp="1"/>
          </p:cNvSpPr>
          <p:nvPr/>
        </p:nvSpPr>
        <p:spPr>
          <a:xfrm>
            <a:off x="4495800" y="3105150"/>
            <a:ext cx="1162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Data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Preparation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976C31-7AE8-4E8E-91BD-5543BE839E36}"/>
              </a:ext>
            </a:extLst>
          </p:cNvPr>
          <p:cNvSpPr>
            <a:spLocks noGrp="1"/>
          </p:cNvSpPr>
          <p:nvPr/>
        </p:nvSpPr>
        <p:spPr>
          <a:xfrm>
            <a:off x="5848350" y="32766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node-Modeling">
            <a:extLst>
              <a:ext uri="{FF2B5EF4-FFF2-40B4-BE49-F238E27FC236}">
                <a16:creationId xmlns:a16="http://schemas.microsoft.com/office/drawing/2014/main" id="{B2CA9F85-D431-4AB0-B8BC-1D85FC7D39B7}"/>
              </a:ext>
            </a:extLst>
          </p:cNvPr>
          <p:cNvSpPr>
            <a:spLocks noGrp="1"/>
          </p:cNvSpPr>
          <p:nvPr/>
        </p:nvSpPr>
        <p:spPr>
          <a:xfrm>
            <a:off x="6248400" y="2952750"/>
            <a:ext cx="1428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4D3E15-90D4-40B2-B654-9C4082357A62}"/>
              </a:ext>
            </a:extLst>
          </p:cNvPr>
          <p:cNvSpPr>
            <a:spLocks noGrp="1"/>
          </p:cNvSpPr>
          <p:nvPr/>
        </p:nvSpPr>
        <p:spPr>
          <a:xfrm>
            <a:off x="6381750" y="3105150"/>
            <a:ext cx="1162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Modeling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378B6B-408E-4F32-9045-6E4D9FD88D71}"/>
              </a:ext>
            </a:extLst>
          </p:cNvPr>
          <p:cNvSpPr>
            <a:spLocks noGrp="1"/>
          </p:cNvSpPr>
          <p:nvPr/>
        </p:nvSpPr>
        <p:spPr>
          <a:xfrm>
            <a:off x="7734300" y="32766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1" name="node-Evaluation">
            <a:extLst>
              <a:ext uri="{FF2B5EF4-FFF2-40B4-BE49-F238E27FC236}">
                <a16:creationId xmlns:a16="http://schemas.microsoft.com/office/drawing/2014/main" id="{EEBF0AC0-F6F3-4E44-95F3-914E65B842C1}"/>
              </a:ext>
            </a:extLst>
          </p:cNvPr>
          <p:cNvSpPr>
            <a:spLocks noGrp="1"/>
          </p:cNvSpPr>
          <p:nvPr/>
        </p:nvSpPr>
        <p:spPr>
          <a:xfrm>
            <a:off x="8134350" y="2952750"/>
            <a:ext cx="1428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66E314-2B69-4D65-80E0-8DAF558BED6B}"/>
              </a:ext>
            </a:extLst>
          </p:cNvPr>
          <p:cNvSpPr>
            <a:spLocks noGrp="1"/>
          </p:cNvSpPr>
          <p:nvPr/>
        </p:nvSpPr>
        <p:spPr>
          <a:xfrm>
            <a:off x="8267700" y="3105150"/>
            <a:ext cx="1162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EB3D1C-B5C7-48ED-96A0-888E9F3D4496}"/>
              </a:ext>
            </a:extLst>
          </p:cNvPr>
          <p:cNvSpPr>
            <a:spLocks noGrp="1"/>
          </p:cNvSpPr>
          <p:nvPr/>
        </p:nvSpPr>
        <p:spPr>
          <a:xfrm>
            <a:off x="9620250" y="32766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4" name="node-Deployment">
            <a:extLst>
              <a:ext uri="{FF2B5EF4-FFF2-40B4-BE49-F238E27FC236}">
                <a16:creationId xmlns:a16="http://schemas.microsoft.com/office/drawing/2014/main" id="{6693F0CE-04F1-43B1-8771-092039997875}"/>
              </a:ext>
            </a:extLst>
          </p:cNvPr>
          <p:cNvSpPr>
            <a:spLocks noGrp="1"/>
          </p:cNvSpPr>
          <p:nvPr/>
        </p:nvSpPr>
        <p:spPr>
          <a:xfrm>
            <a:off x="10020300" y="2952750"/>
            <a:ext cx="1428750" cy="914400"/>
          </a:xfrm>
          <a:prstGeom prst="rect">
            <a:avLst/>
          </a:prstGeom>
          <a:solidFill>
            <a:srgbClr val="EAF3EC"/>
          </a:solidFill>
          <a:ln w="9525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FA4D5B-91DD-4DB5-9D51-A50D9FC8A6CF}"/>
              </a:ext>
            </a:extLst>
          </p:cNvPr>
          <p:cNvSpPr>
            <a:spLocks noGrp="1"/>
          </p:cNvSpPr>
          <p:nvPr/>
        </p:nvSpPr>
        <p:spPr>
          <a:xfrm>
            <a:off x="10153650" y="3105150"/>
            <a:ext cx="1162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B891AF-8D8D-4853-A493-3C115C0D119F}"/>
              </a:ext>
            </a:extLst>
          </p:cNvPr>
          <p:cNvSpPr>
            <a:spLocks noGrp="1"/>
          </p:cNvSpPr>
          <p:nvPr/>
        </p:nvSpPr>
        <p:spPr>
          <a:xfrm>
            <a:off x="1295400" y="4476750"/>
            <a:ext cx="9144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Key discipline: no final blind-test scoring happens until model comparison and holdout validation are complete.</a:t>
            </a:r>
          </a:p>
        </p:txBody>
      </p:sp>
    </p:spTree>
    <p:extLst>
      <p:ext uri="{BB962C8B-B14F-4D97-AF65-F5344CB8AC3E}">
        <p14:creationId xmlns:p14="http://schemas.microsoft.com/office/powerpoint/2010/main" val="1894642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ackground">
            <a:extLst>
              <a:ext uri="{FF2B5EF4-FFF2-40B4-BE49-F238E27FC236}">
                <a16:creationId xmlns:a16="http://schemas.microsoft.com/office/drawing/2014/main" id="{4CE245D2-4A36-429D-A6FD-6074062DC0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84E03932-308F-4980-A667-2AEE0EFA8A46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67CEDC6F-8D05-4A47-A4D6-D234F41EDC7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DATA CONTRACT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95BD1EBF-B6A6-4A52-AAAD-CAD44F3ABC8D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CD91B04C-7BAC-42CB-A958-6F92C12F5922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Two CSV files define a compact supervised regression problem.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1B5D6913-AFF3-44B7-A756-24B41CE2AF52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blind test has the same 20 feature columns and no target.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7450EB2F-AD56-49CB-A47D-3A4F1B06A05B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metric-training observations">
            <a:extLst>
              <a:ext uri="{FF2B5EF4-FFF2-40B4-BE49-F238E27FC236}">
                <a16:creationId xmlns:a16="http://schemas.microsoft.com/office/drawing/2014/main" id="{B93528CA-DE71-4A45-B596-06D2DD0680A1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1809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893D3C-051C-452E-B9E4-A5DFDC96B9D9}"/>
              </a:ext>
            </a:extLst>
          </p:cNvPr>
          <p:cNvSpPr>
            <a:spLocks noGrp="1"/>
          </p:cNvSpPr>
          <p:nvPr/>
        </p:nvSpPr>
        <p:spPr>
          <a:xfrm>
            <a:off x="1085850" y="2533650"/>
            <a:ext cx="146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95F0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95F0E"/>
                </a:solidFill>
                <a:latin typeface="Aptos Display"/>
                <a:ea typeface="Aptos Display"/>
                <a:cs typeface="Aptos Display"/>
              </a:rPr>
              <a:t>800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EA7D10-908B-4D29-819D-F4FF10127E13}"/>
              </a:ext>
            </a:extLst>
          </p:cNvPr>
          <p:cNvSpPr>
            <a:spLocks noGrp="1"/>
          </p:cNvSpPr>
          <p:nvPr/>
        </p:nvSpPr>
        <p:spPr>
          <a:xfrm>
            <a:off x="1085850" y="2933700"/>
            <a:ext cx="1466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training observations</a:t>
            </a:r>
          </a:p>
        </p:txBody>
      </p:sp>
      <p:sp>
        <p:nvSpPr>
          <p:cNvPr id="12" name="metric-blind observations">
            <a:extLst>
              <a:ext uri="{FF2B5EF4-FFF2-40B4-BE49-F238E27FC236}">
                <a16:creationId xmlns:a16="http://schemas.microsoft.com/office/drawing/2014/main" id="{47D1CB39-F045-4C8A-8A74-C0ED62C6236A}"/>
              </a:ext>
            </a:extLst>
          </p:cNvPr>
          <p:cNvSpPr>
            <a:spLocks noGrp="1"/>
          </p:cNvSpPr>
          <p:nvPr/>
        </p:nvSpPr>
        <p:spPr>
          <a:xfrm>
            <a:off x="3028950" y="2381250"/>
            <a:ext cx="1809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335B76-428B-4C70-B8EA-962F38C72208}"/>
              </a:ext>
            </a:extLst>
          </p:cNvPr>
          <p:cNvSpPr>
            <a:spLocks noGrp="1"/>
          </p:cNvSpPr>
          <p:nvPr/>
        </p:nvSpPr>
        <p:spPr>
          <a:xfrm>
            <a:off x="3200400" y="2533650"/>
            <a:ext cx="146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95F0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95F0E"/>
                </a:solidFill>
                <a:latin typeface="Aptos Display"/>
                <a:ea typeface="Aptos Display"/>
                <a:cs typeface="Aptos Display"/>
              </a:rPr>
              <a:t>200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140623-5146-4FA1-826D-3D72B17DA0E9}"/>
              </a:ext>
            </a:extLst>
          </p:cNvPr>
          <p:cNvSpPr>
            <a:spLocks noGrp="1"/>
          </p:cNvSpPr>
          <p:nvPr/>
        </p:nvSpPr>
        <p:spPr>
          <a:xfrm>
            <a:off x="3200400" y="2933700"/>
            <a:ext cx="1466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blind observations</a:t>
            </a:r>
          </a:p>
        </p:txBody>
      </p:sp>
      <p:sp>
        <p:nvSpPr>
          <p:cNvPr id="15" name="metric-numeric predictors">
            <a:extLst>
              <a:ext uri="{FF2B5EF4-FFF2-40B4-BE49-F238E27FC236}">
                <a16:creationId xmlns:a16="http://schemas.microsoft.com/office/drawing/2014/main" id="{38C764D2-D955-4ACF-8FAE-C48190407CD4}"/>
              </a:ext>
            </a:extLst>
          </p:cNvPr>
          <p:cNvSpPr>
            <a:spLocks noGrp="1"/>
          </p:cNvSpPr>
          <p:nvPr/>
        </p:nvSpPr>
        <p:spPr>
          <a:xfrm>
            <a:off x="5143500" y="2381250"/>
            <a:ext cx="1809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1CCE3C-F85E-407B-884E-E1A376859EDF}"/>
              </a:ext>
            </a:extLst>
          </p:cNvPr>
          <p:cNvSpPr>
            <a:spLocks noGrp="1"/>
          </p:cNvSpPr>
          <p:nvPr/>
        </p:nvSpPr>
        <p:spPr>
          <a:xfrm>
            <a:off x="5314950" y="2533650"/>
            <a:ext cx="146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95F0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95F0E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6C0511-103F-45AA-8BF6-5915838B1675}"/>
              </a:ext>
            </a:extLst>
          </p:cNvPr>
          <p:cNvSpPr>
            <a:spLocks noGrp="1"/>
          </p:cNvSpPr>
          <p:nvPr/>
        </p:nvSpPr>
        <p:spPr>
          <a:xfrm>
            <a:off x="5314950" y="2933700"/>
            <a:ext cx="1466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numeric predictors</a:t>
            </a:r>
          </a:p>
        </p:txBody>
      </p:sp>
      <p:sp>
        <p:nvSpPr>
          <p:cNvPr id="18" name="metric-target columns">
            <a:extLst>
              <a:ext uri="{FF2B5EF4-FFF2-40B4-BE49-F238E27FC236}">
                <a16:creationId xmlns:a16="http://schemas.microsoft.com/office/drawing/2014/main" id="{4B4851E8-C1B7-4208-9C88-46E2C5FB8F12}"/>
              </a:ext>
            </a:extLst>
          </p:cNvPr>
          <p:cNvSpPr>
            <a:spLocks noGrp="1"/>
          </p:cNvSpPr>
          <p:nvPr/>
        </p:nvSpPr>
        <p:spPr>
          <a:xfrm>
            <a:off x="7258050" y="2381250"/>
            <a:ext cx="1809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3B187E-5B99-43FF-A867-07D1BDEEF125}"/>
              </a:ext>
            </a:extLst>
          </p:cNvPr>
          <p:cNvSpPr>
            <a:spLocks noGrp="1"/>
          </p:cNvSpPr>
          <p:nvPr/>
        </p:nvSpPr>
        <p:spPr>
          <a:xfrm>
            <a:off x="7429500" y="2533650"/>
            <a:ext cx="146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95F0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95F0E"/>
                </a:solidFill>
                <a:latin typeface="Aptos Display"/>
                <a:ea typeface="Aptos Display"/>
                <a:cs typeface="Aptos Display"/>
              </a:rPr>
              <a:t>1 / 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95238F-BF28-4B62-8066-E4293416145D}"/>
              </a:ext>
            </a:extLst>
          </p:cNvPr>
          <p:cNvSpPr>
            <a:spLocks noGrp="1"/>
          </p:cNvSpPr>
          <p:nvPr/>
        </p:nvSpPr>
        <p:spPr>
          <a:xfrm>
            <a:off x="7429500" y="2933700"/>
            <a:ext cx="1466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target columns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7A2148-870F-426A-9D78-8BB84AD70EB4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9906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7392E2-61DD-4B76-AED6-D56B2721A115}"/>
              </a:ext>
            </a:extLst>
          </p:cNvPr>
          <p:cNvSpPr>
            <a:spLocks noGrp="1"/>
          </p:cNvSpPr>
          <p:nvPr/>
        </p:nvSpPr>
        <p:spPr>
          <a:xfrm>
            <a:off x="1466850" y="4210050"/>
            <a:ext cx="9144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6232E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16232E"/>
                </a:solidFill>
                <a:latin typeface="Aptos Mono"/>
                <a:ea typeface="Aptos Mono"/>
                <a:cs typeface="Aptos Mono"/>
              </a:rPr>
              <a:t>training_data.csv = feature_0 ... feature_19 + target</a:t>
            </a:r>
          </a:p>
          <a:p>
            <a:pPr algn="l">
              <a:defRPr sz="1575" b="0">
                <a:solidFill>
                  <a:srgbClr val="16232E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16232E"/>
                </a:solidFill>
                <a:latin typeface="Aptos Mono"/>
                <a:ea typeface="Aptos Mono"/>
                <a:cs typeface="Aptos Mono"/>
              </a:rPr>
              <a:t>blind_test_data.csv = feature_0 ... feature_19</a:t>
            </a:r>
          </a:p>
        </p:txBody>
      </p:sp>
    </p:spTree>
    <p:extLst>
      <p:ext uri="{BB962C8B-B14F-4D97-AF65-F5344CB8AC3E}">
        <p14:creationId xmlns:p14="http://schemas.microsoft.com/office/powerpoint/2010/main" val="35555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ackground">
            <a:extLst>
              <a:ext uri="{FF2B5EF4-FFF2-40B4-BE49-F238E27FC236}">
                <a16:creationId xmlns:a16="http://schemas.microsoft.com/office/drawing/2014/main" id="{5EEEA8E5-C3E7-4C05-9A7B-9DC1901982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694C4866-CE61-4731-94A3-40DDA8E631AF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52D5EF0-DC20-4E0F-8DD1-9C40E875A4A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RAW IMPORT STRATEGY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EFE48940-2B69-42B3-A960-03FB9B58F06E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6FA276DC-A4D6-492C-9612-BF0DBC75BE31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Character-first import makes numeric recovery explicit and auditable.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B290FED-D0ED-42B7-92EA-4D29A24E8E24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notebook does not assume the raw CSV is clean until parsing is checked.</a:t>
            </a:r>
          </a:p>
        </p:txBody>
      </p:sp>
      <p:sp>
        <p:nvSpPr>
          <p:cNvPr id="7" name="source-footer">
            <a:extLst>
              <a:ext uri="{FF2B5EF4-FFF2-40B4-BE49-F238E27FC236}">
                <a16:creationId xmlns:a16="http://schemas.microsoft.com/office/drawing/2014/main" id="{AE8E9E89-1389-4C55-B5A8-D69ED6019EFD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Model Notebook Documentation.Rmd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1C4BA9D1-7511-49CD-ABAC-F1753AA47C82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node-CSV strings">
            <a:extLst>
              <a:ext uri="{FF2B5EF4-FFF2-40B4-BE49-F238E27FC236}">
                <a16:creationId xmlns:a16="http://schemas.microsoft.com/office/drawing/2014/main" id="{D351737E-24AF-40B1-89E8-4BF5FE8B8B4D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1619250" cy="819150"/>
          </a:xfrm>
          <a:prstGeom prst="rect">
            <a:avLst/>
          </a:prstGeom>
          <a:solidFill>
            <a:srgbClr val="E8EEF6"/>
          </a:solidFill>
          <a:ln w="9525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5C0A9C-9E33-4CDE-BD30-78C4ECEC4143}"/>
              </a:ext>
            </a:extLst>
          </p:cNvPr>
          <p:cNvSpPr>
            <a:spLocks noGrp="1"/>
          </p:cNvSpPr>
          <p:nvPr/>
        </p:nvSpPr>
        <p:spPr>
          <a:xfrm>
            <a:off x="990600" y="3105150"/>
            <a:ext cx="1352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CSV strings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4B441F-D181-4478-99C3-56E49A92E3D7}"/>
              </a:ext>
            </a:extLst>
          </p:cNvPr>
          <p:cNvSpPr>
            <a:spLocks noGrp="1"/>
          </p:cNvSpPr>
          <p:nvPr/>
        </p:nvSpPr>
        <p:spPr>
          <a:xfrm>
            <a:off x="2571750" y="321945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2" name="node-Trim whitespace">
            <a:extLst>
              <a:ext uri="{FF2B5EF4-FFF2-40B4-BE49-F238E27FC236}">
                <a16:creationId xmlns:a16="http://schemas.microsoft.com/office/drawing/2014/main" id="{9A2AC7A4-7018-47D5-BC42-AF90DDC6D8CF}"/>
              </a:ext>
            </a:extLst>
          </p:cNvPr>
          <p:cNvSpPr>
            <a:spLocks noGrp="1"/>
          </p:cNvSpPr>
          <p:nvPr/>
        </p:nvSpPr>
        <p:spPr>
          <a:xfrm>
            <a:off x="3028950" y="2952750"/>
            <a:ext cx="16192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782289-2936-4C10-8A2E-16DD07012BCA}"/>
              </a:ext>
            </a:extLst>
          </p:cNvPr>
          <p:cNvSpPr>
            <a:spLocks noGrp="1"/>
          </p:cNvSpPr>
          <p:nvPr/>
        </p:nvSpPr>
        <p:spPr>
          <a:xfrm>
            <a:off x="3162300" y="3105150"/>
            <a:ext cx="1352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Trim whitespace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FA5BD9-E491-4AC3-A101-83FC208C08F6}"/>
              </a:ext>
            </a:extLst>
          </p:cNvPr>
          <p:cNvSpPr>
            <a:spLocks noGrp="1"/>
          </p:cNvSpPr>
          <p:nvPr/>
        </p:nvSpPr>
        <p:spPr>
          <a:xfrm>
            <a:off x="4762500" y="321945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node-Blank -&gt; NA">
            <a:extLst>
              <a:ext uri="{FF2B5EF4-FFF2-40B4-BE49-F238E27FC236}">
                <a16:creationId xmlns:a16="http://schemas.microsoft.com/office/drawing/2014/main" id="{A977A61C-7F24-4335-976A-6756B5F597AC}"/>
              </a:ext>
            </a:extLst>
          </p:cNvPr>
          <p:cNvSpPr>
            <a:spLocks noGrp="1"/>
          </p:cNvSpPr>
          <p:nvPr/>
        </p:nvSpPr>
        <p:spPr>
          <a:xfrm>
            <a:off x="5219700" y="2952750"/>
            <a:ext cx="16192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E08B93-D576-408C-A5E7-86BD056CE31D}"/>
              </a:ext>
            </a:extLst>
          </p:cNvPr>
          <p:cNvSpPr>
            <a:spLocks noGrp="1"/>
          </p:cNvSpPr>
          <p:nvPr/>
        </p:nvSpPr>
        <p:spPr>
          <a:xfrm>
            <a:off x="5353050" y="3105150"/>
            <a:ext cx="1352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Blank -&gt; NA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29C6EA-4BAF-4D7C-9B22-8468AB1D8F7F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node-as.numeric()">
            <a:extLst>
              <a:ext uri="{FF2B5EF4-FFF2-40B4-BE49-F238E27FC236}">
                <a16:creationId xmlns:a16="http://schemas.microsoft.com/office/drawing/2014/main" id="{4FA5C1D6-4901-476E-8158-8856606A5161}"/>
              </a:ext>
            </a:extLst>
          </p:cNvPr>
          <p:cNvSpPr>
            <a:spLocks noGrp="1"/>
          </p:cNvSpPr>
          <p:nvPr/>
        </p:nvSpPr>
        <p:spPr>
          <a:xfrm>
            <a:off x="7391400" y="2952750"/>
            <a:ext cx="16192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EC8EA3-2EF8-47FA-9583-04B6B66A515F}"/>
              </a:ext>
            </a:extLst>
          </p:cNvPr>
          <p:cNvSpPr>
            <a:spLocks noGrp="1"/>
          </p:cNvSpPr>
          <p:nvPr/>
        </p:nvSpPr>
        <p:spPr>
          <a:xfrm>
            <a:off x="7524750" y="3105150"/>
            <a:ext cx="1352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as.numeric()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ECEA51-B8DE-40BA-A8AD-307A8B35F946}"/>
              </a:ext>
            </a:extLst>
          </p:cNvPr>
          <p:cNvSpPr>
            <a:spLocks noGrp="1"/>
          </p:cNvSpPr>
          <p:nvPr/>
        </p:nvSpPr>
        <p:spPr>
          <a:xfrm>
            <a:off x="9105900" y="321945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1" name="node-Model-ready numeric">
            <a:extLst>
              <a:ext uri="{FF2B5EF4-FFF2-40B4-BE49-F238E27FC236}">
                <a16:creationId xmlns:a16="http://schemas.microsoft.com/office/drawing/2014/main" id="{27797103-9570-4FBA-8F36-B0C261CB07DA}"/>
              </a:ext>
            </a:extLst>
          </p:cNvPr>
          <p:cNvSpPr>
            <a:spLocks noGrp="1"/>
          </p:cNvSpPr>
          <p:nvPr/>
        </p:nvSpPr>
        <p:spPr>
          <a:xfrm>
            <a:off x="9563100" y="2952750"/>
            <a:ext cx="1619250" cy="819150"/>
          </a:xfrm>
          <a:prstGeom prst="rect">
            <a:avLst/>
          </a:prstGeom>
          <a:solidFill>
            <a:srgbClr val="EAF3EC"/>
          </a:solidFill>
          <a:ln w="9525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206211-3EB8-4F8B-BB44-FFE7AAA04AAD}"/>
              </a:ext>
            </a:extLst>
          </p:cNvPr>
          <p:cNvSpPr>
            <a:spLocks noGrp="1"/>
          </p:cNvSpPr>
          <p:nvPr/>
        </p:nvSpPr>
        <p:spPr>
          <a:xfrm>
            <a:off x="9696450" y="3105150"/>
            <a:ext cx="1352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Model-ready numeric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C0024E-4405-47DE-B708-F9089A5ABECB}"/>
              </a:ext>
            </a:extLst>
          </p:cNvPr>
          <p:cNvSpPr>
            <a:spLocks noGrp="1"/>
          </p:cNvSpPr>
          <p:nvPr/>
        </p:nvSpPr>
        <p:spPr>
          <a:xfrm>
            <a:off x="1504950" y="4419600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Why it matters: the conversion rule is visible in the notebook before it is applied to every column.</a:t>
            </a:r>
          </a:p>
        </p:txBody>
      </p:sp>
    </p:spTree>
    <p:extLst>
      <p:ext uri="{BB962C8B-B14F-4D97-AF65-F5344CB8AC3E}">
        <p14:creationId xmlns:p14="http://schemas.microsoft.com/office/powerpoint/2010/main" val="17837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ckground">
            <a:extLst>
              <a:ext uri="{FF2B5EF4-FFF2-40B4-BE49-F238E27FC236}">
                <a16:creationId xmlns:a16="http://schemas.microsoft.com/office/drawing/2014/main" id="{70BB3981-BAED-4747-8C89-75B54CAE986D}"/>
              </a:ext>
            </a:extLst>
          </p:cNvPr>
          <p:cNvSpPr>
            <a:spLocks noGrp="1"/>
          </p:cNvSpPr>
          <p:nvPr/>
        </p:nvSpPr>
        <p:spPr>
          <a:xfrm>
            <a:off x="0" y="24765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BD1EA0FC-17FD-4EA9-A64E-EABD798A27AA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FB12378B-C80D-4D15-9FE1-F84D35E9186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STRUCTURAL VALIDATION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41334A93-44B7-4C31-9CAB-F85E74EB4BBB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86C80346-5DAA-49EC-A9E0-432699E9702D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The local files match the challenge specification before modeling begins.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E8080F06-036D-4273-9D94-99A53C04381C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Rows, predictors, and target presence are checked before type conversion and modeling.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AE0C5249-1E5B-4561-B181-7FD47CE68D4A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4D4559-7BDF-4EEA-81AB-347E2A76E682}"/>
              </a:ext>
            </a:extLst>
          </p:cNvPr>
          <p:cNvSpPr>
            <a:spLocks noGrp="1"/>
          </p:cNvSpPr>
          <p:nvPr/>
        </p:nvSpPr>
        <p:spPr>
          <a:xfrm>
            <a:off x="1066800" y="2476500"/>
            <a:ext cx="10058400" cy="552450"/>
          </a:xfrm>
          <a:prstGeom prst="rect">
            <a:avLst/>
          </a:prstGeom>
          <a:solidFill>
            <a:srgbClr val="16232E"/>
          </a:solidFill>
          <a:ln w="9525">
            <a:solidFill>
              <a:srgbClr val="16232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18B1B8-D1ED-466B-BD6B-4F4C56BA05E4}"/>
              </a:ext>
            </a:extLst>
          </p:cNvPr>
          <p:cNvSpPr>
            <a:spLocks noGrp="1"/>
          </p:cNvSpPr>
          <p:nvPr/>
        </p:nvSpPr>
        <p:spPr>
          <a:xfrm>
            <a:off x="1181100" y="2571750"/>
            <a:ext cx="178308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190B68-8FC0-421D-A89A-6A15D57F1FD9}"/>
              </a:ext>
            </a:extLst>
          </p:cNvPr>
          <p:cNvSpPr>
            <a:spLocks noGrp="1"/>
          </p:cNvSpPr>
          <p:nvPr/>
        </p:nvSpPr>
        <p:spPr>
          <a:xfrm>
            <a:off x="3192780" y="2571750"/>
            <a:ext cx="178308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 rows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84BF8E-5C80-4E33-AC0B-535E97DF947A}"/>
              </a:ext>
            </a:extLst>
          </p:cNvPr>
          <p:cNvSpPr>
            <a:spLocks noGrp="1"/>
          </p:cNvSpPr>
          <p:nvPr/>
        </p:nvSpPr>
        <p:spPr>
          <a:xfrm>
            <a:off x="5204460" y="2571750"/>
            <a:ext cx="178308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Observed rows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342825-6670-4442-8AF9-2752DB762637}"/>
              </a:ext>
            </a:extLst>
          </p:cNvPr>
          <p:cNvSpPr>
            <a:spLocks noGrp="1"/>
          </p:cNvSpPr>
          <p:nvPr/>
        </p:nvSpPr>
        <p:spPr>
          <a:xfrm>
            <a:off x="7216140" y="2571750"/>
            <a:ext cx="178308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 features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64DAAB-CBFE-46F8-BEB8-C67562DF45BC}"/>
              </a:ext>
            </a:extLst>
          </p:cNvPr>
          <p:cNvSpPr>
            <a:spLocks noGrp="1"/>
          </p:cNvSpPr>
          <p:nvPr/>
        </p:nvSpPr>
        <p:spPr>
          <a:xfrm>
            <a:off x="9227820" y="2571750"/>
            <a:ext cx="178308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 present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1CC687-63F1-4C6E-BD21-84F07A742524}"/>
              </a:ext>
            </a:extLst>
          </p:cNvPr>
          <p:cNvSpPr>
            <a:spLocks noGrp="1"/>
          </p:cNvSpPr>
          <p:nvPr/>
        </p:nvSpPr>
        <p:spPr>
          <a:xfrm>
            <a:off x="1066800" y="3028950"/>
            <a:ext cx="100584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FDD420-D960-4225-BCAE-6834DA2A1F5F}"/>
              </a:ext>
            </a:extLst>
          </p:cNvPr>
          <p:cNvSpPr>
            <a:spLocks noGrp="1"/>
          </p:cNvSpPr>
          <p:nvPr/>
        </p:nvSpPr>
        <p:spPr>
          <a:xfrm>
            <a:off x="1181100" y="3124200"/>
            <a:ext cx="178308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training_data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4D72E0-76C9-449E-94C7-B677BFE35A83}"/>
              </a:ext>
            </a:extLst>
          </p:cNvPr>
          <p:cNvSpPr>
            <a:spLocks noGrp="1"/>
          </p:cNvSpPr>
          <p:nvPr/>
        </p:nvSpPr>
        <p:spPr>
          <a:xfrm>
            <a:off x="3192780" y="3124200"/>
            <a:ext cx="178308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800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EB899D-8488-4618-BA33-75799F596FFC}"/>
              </a:ext>
            </a:extLst>
          </p:cNvPr>
          <p:cNvSpPr>
            <a:spLocks noGrp="1"/>
          </p:cNvSpPr>
          <p:nvPr/>
        </p:nvSpPr>
        <p:spPr>
          <a:xfrm>
            <a:off x="5204460" y="3124200"/>
            <a:ext cx="178308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800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EC572F-5534-40E6-A38A-9A9978886A15}"/>
              </a:ext>
            </a:extLst>
          </p:cNvPr>
          <p:cNvSpPr>
            <a:spLocks noGrp="1"/>
          </p:cNvSpPr>
          <p:nvPr/>
        </p:nvSpPr>
        <p:spPr>
          <a:xfrm>
            <a:off x="7216140" y="3124200"/>
            <a:ext cx="178308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26233B-D548-458F-9613-804849A3EBB7}"/>
              </a:ext>
            </a:extLst>
          </p:cNvPr>
          <p:cNvSpPr>
            <a:spLocks noGrp="1"/>
          </p:cNvSpPr>
          <p:nvPr/>
        </p:nvSpPr>
        <p:spPr>
          <a:xfrm>
            <a:off x="9227820" y="3124200"/>
            <a:ext cx="178308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37600E-F951-4347-A814-34FA77BD8645}"/>
              </a:ext>
            </a:extLst>
          </p:cNvPr>
          <p:cNvSpPr>
            <a:spLocks noGrp="1"/>
          </p:cNvSpPr>
          <p:nvPr/>
        </p:nvSpPr>
        <p:spPr>
          <a:xfrm>
            <a:off x="1066800" y="3581400"/>
            <a:ext cx="10058400" cy="552450"/>
          </a:xfrm>
          <a:prstGeom prst="rect">
            <a:avLst/>
          </a:prstGeom>
          <a:solidFill>
            <a:srgbClr val="FBF9F5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3E37FD-A9CE-4B13-8706-0E09B4B0C0D9}"/>
              </a:ext>
            </a:extLst>
          </p:cNvPr>
          <p:cNvSpPr>
            <a:spLocks noGrp="1"/>
          </p:cNvSpPr>
          <p:nvPr/>
        </p:nvSpPr>
        <p:spPr>
          <a:xfrm>
            <a:off x="1181100" y="3676650"/>
            <a:ext cx="178308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blind_test_data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36E292-4449-414D-B3D7-EE839B779906}"/>
              </a:ext>
            </a:extLst>
          </p:cNvPr>
          <p:cNvSpPr>
            <a:spLocks noGrp="1"/>
          </p:cNvSpPr>
          <p:nvPr/>
        </p:nvSpPr>
        <p:spPr>
          <a:xfrm>
            <a:off x="3192780" y="3676650"/>
            <a:ext cx="178308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8FDB1B-48F4-4348-BB30-BC6A60E12C3E}"/>
              </a:ext>
            </a:extLst>
          </p:cNvPr>
          <p:cNvSpPr>
            <a:spLocks noGrp="1"/>
          </p:cNvSpPr>
          <p:nvPr/>
        </p:nvSpPr>
        <p:spPr>
          <a:xfrm>
            <a:off x="5204460" y="3676650"/>
            <a:ext cx="178308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E95F3A-D136-423D-8D06-F87438E806E0}"/>
              </a:ext>
            </a:extLst>
          </p:cNvPr>
          <p:cNvSpPr>
            <a:spLocks noGrp="1"/>
          </p:cNvSpPr>
          <p:nvPr/>
        </p:nvSpPr>
        <p:spPr>
          <a:xfrm>
            <a:off x="7216140" y="3676650"/>
            <a:ext cx="178308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B42A2D5-0DC7-4351-8824-263D7020AB40}"/>
              </a:ext>
            </a:extLst>
          </p:cNvPr>
          <p:cNvSpPr>
            <a:spLocks noGrp="1"/>
          </p:cNvSpPr>
          <p:nvPr/>
        </p:nvSpPr>
        <p:spPr>
          <a:xfrm>
            <a:off x="9227820" y="3676650"/>
            <a:ext cx="178308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10458B-E573-4F53-99F1-332F443EE74B}"/>
              </a:ext>
            </a:extLst>
          </p:cNvPr>
          <p:cNvSpPr>
            <a:spLocks noGrp="1"/>
          </p:cNvSpPr>
          <p:nvPr/>
        </p:nvSpPr>
        <p:spPr>
          <a:xfrm>
            <a:off x="1619250" y="4476750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Interpretation: no file-level correction step was needed.</a:t>
            </a:r>
          </a:p>
        </p:txBody>
      </p:sp>
    </p:spTree>
    <p:extLst>
      <p:ext uri="{BB962C8B-B14F-4D97-AF65-F5344CB8AC3E}">
        <p14:creationId xmlns:p14="http://schemas.microsoft.com/office/powerpoint/2010/main" val="1313875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ackground">
            <a:extLst>
              <a:ext uri="{FF2B5EF4-FFF2-40B4-BE49-F238E27FC236}">
                <a16:creationId xmlns:a16="http://schemas.microsoft.com/office/drawing/2014/main" id="{4AC66DBB-65A3-4B92-A953-E38BD84670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54949BFA-8192-4521-A1E9-AFAFF492A421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D0F8F55E-215A-4604-ACC6-B34AC22B8BF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DATA QUALITY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DC586610-8F24-4FEA-BB97-2824B0A1EE5C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FE79E3DD-D62C-4B30-BAE5-339FAA880910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Missingness and duplication checks both returned clean results.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3251EF9C-2D37-40A6-9D7D-0234CE2F8D96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notebook still documents the checks so future file versions can fail visibly.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F1165BF9-75A3-43F7-9C8B-DF1C4EC731BB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metric-training rows with NA">
            <a:extLst>
              <a:ext uri="{FF2B5EF4-FFF2-40B4-BE49-F238E27FC236}">
                <a16:creationId xmlns:a16="http://schemas.microsoft.com/office/drawing/2014/main" id="{68A98C1C-E7D9-4405-82AC-917153EF5F0C}"/>
              </a:ext>
            </a:extLst>
          </p:cNvPr>
          <p:cNvSpPr>
            <a:spLocks noGrp="1"/>
          </p:cNvSpPr>
          <p:nvPr/>
        </p:nvSpPr>
        <p:spPr>
          <a:xfrm>
            <a:off x="1276350" y="2428875"/>
            <a:ext cx="2000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27E276-7CE6-4053-8068-5B5084AB1FFF}"/>
              </a:ext>
            </a:extLst>
          </p:cNvPr>
          <p:cNvSpPr>
            <a:spLocks noGrp="1"/>
          </p:cNvSpPr>
          <p:nvPr/>
        </p:nvSpPr>
        <p:spPr>
          <a:xfrm>
            <a:off x="1447800" y="2581275"/>
            <a:ext cx="1657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5D5F8D-3CC5-4AE3-85E0-F7E7C0DD1338}"/>
              </a:ext>
            </a:extLst>
          </p:cNvPr>
          <p:cNvSpPr>
            <a:spLocks noGrp="1"/>
          </p:cNvSpPr>
          <p:nvPr/>
        </p:nvSpPr>
        <p:spPr>
          <a:xfrm>
            <a:off x="1447800" y="2981325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training rows with NA</a:t>
            </a:r>
          </a:p>
        </p:txBody>
      </p:sp>
      <p:sp>
        <p:nvSpPr>
          <p:cNvPr id="12" name="metric-blind rows with NA">
            <a:extLst>
              <a:ext uri="{FF2B5EF4-FFF2-40B4-BE49-F238E27FC236}">
                <a16:creationId xmlns:a16="http://schemas.microsoft.com/office/drawing/2014/main" id="{D9B58EB9-BB3F-4066-A7F8-F5644B45F383}"/>
              </a:ext>
            </a:extLst>
          </p:cNvPr>
          <p:cNvSpPr>
            <a:spLocks noGrp="1"/>
          </p:cNvSpPr>
          <p:nvPr/>
        </p:nvSpPr>
        <p:spPr>
          <a:xfrm>
            <a:off x="3714750" y="2428875"/>
            <a:ext cx="2000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6A54CB-F920-43DC-8AF1-108203A338F7}"/>
              </a:ext>
            </a:extLst>
          </p:cNvPr>
          <p:cNvSpPr>
            <a:spLocks noGrp="1"/>
          </p:cNvSpPr>
          <p:nvPr/>
        </p:nvSpPr>
        <p:spPr>
          <a:xfrm>
            <a:off x="3886200" y="2581275"/>
            <a:ext cx="1657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7AD18D-19B6-488F-83AE-2612E25CFC6D}"/>
              </a:ext>
            </a:extLst>
          </p:cNvPr>
          <p:cNvSpPr>
            <a:spLocks noGrp="1"/>
          </p:cNvSpPr>
          <p:nvPr/>
        </p:nvSpPr>
        <p:spPr>
          <a:xfrm>
            <a:off x="3886200" y="2981325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blind rows with NA</a:t>
            </a:r>
          </a:p>
        </p:txBody>
      </p:sp>
      <p:sp>
        <p:nvSpPr>
          <p:cNvPr id="15" name="metric-training duplicates">
            <a:extLst>
              <a:ext uri="{FF2B5EF4-FFF2-40B4-BE49-F238E27FC236}">
                <a16:creationId xmlns:a16="http://schemas.microsoft.com/office/drawing/2014/main" id="{4FCEAA34-2476-4391-B809-B5792601324A}"/>
              </a:ext>
            </a:extLst>
          </p:cNvPr>
          <p:cNvSpPr>
            <a:spLocks noGrp="1"/>
          </p:cNvSpPr>
          <p:nvPr/>
        </p:nvSpPr>
        <p:spPr>
          <a:xfrm>
            <a:off x="6153150" y="2428875"/>
            <a:ext cx="2000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B1A1FE-EA3D-4DB0-8863-211CEC5FEA2D}"/>
              </a:ext>
            </a:extLst>
          </p:cNvPr>
          <p:cNvSpPr>
            <a:spLocks noGrp="1"/>
          </p:cNvSpPr>
          <p:nvPr/>
        </p:nvSpPr>
        <p:spPr>
          <a:xfrm>
            <a:off x="6324600" y="2581275"/>
            <a:ext cx="1657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7A8E1E-D0E6-4C4D-94B4-9A3110A30C0F}"/>
              </a:ext>
            </a:extLst>
          </p:cNvPr>
          <p:cNvSpPr>
            <a:spLocks noGrp="1"/>
          </p:cNvSpPr>
          <p:nvPr/>
        </p:nvSpPr>
        <p:spPr>
          <a:xfrm>
            <a:off x="6324600" y="2981325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training duplicates</a:t>
            </a:r>
          </a:p>
        </p:txBody>
      </p:sp>
      <p:sp>
        <p:nvSpPr>
          <p:cNvPr id="18" name="metric-blind duplicates">
            <a:extLst>
              <a:ext uri="{FF2B5EF4-FFF2-40B4-BE49-F238E27FC236}">
                <a16:creationId xmlns:a16="http://schemas.microsoft.com/office/drawing/2014/main" id="{0E978123-0071-45C9-9A4A-EF21731FE8C9}"/>
              </a:ext>
            </a:extLst>
          </p:cNvPr>
          <p:cNvSpPr>
            <a:spLocks noGrp="1"/>
          </p:cNvSpPr>
          <p:nvPr/>
        </p:nvSpPr>
        <p:spPr>
          <a:xfrm>
            <a:off x="8591550" y="2428875"/>
            <a:ext cx="2000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616A0C-ADFB-4AA0-A499-80249FFF0EF4}"/>
              </a:ext>
            </a:extLst>
          </p:cNvPr>
          <p:cNvSpPr>
            <a:spLocks noGrp="1"/>
          </p:cNvSpPr>
          <p:nvPr/>
        </p:nvSpPr>
        <p:spPr>
          <a:xfrm>
            <a:off x="8763000" y="2581275"/>
            <a:ext cx="1657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3128F9-F2FC-4DB0-AA06-66E633B7B949}"/>
              </a:ext>
            </a:extLst>
          </p:cNvPr>
          <p:cNvSpPr>
            <a:spLocks noGrp="1"/>
          </p:cNvSpPr>
          <p:nvPr/>
        </p:nvSpPr>
        <p:spPr>
          <a:xfrm>
            <a:off x="8763000" y="2981325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blind duplicates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42F9CD-A7E6-435E-9214-63522C9A87A3}"/>
              </a:ext>
            </a:extLst>
          </p:cNvPr>
          <p:cNvSpPr>
            <a:spLocks noGrp="1"/>
          </p:cNvSpPr>
          <p:nvPr/>
        </p:nvSpPr>
        <p:spPr>
          <a:xfrm>
            <a:off x="2209800" y="4419600"/>
            <a:ext cx="66675" cy="66675"/>
          </a:xfrm>
          <a:prstGeom prst="rect">
            <a:avLst/>
          </a:prstGeom>
          <a:solidFill>
            <a:srgbClr val="2D6A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820241-2A25-42A2-9949-F3C2EC4478C2}"/>
              </a:ext>
            </a:extLst>
          </p:cNvPr>
          <p:cNvSpPr>
            <a:spLocks noGrp="1"/>
          </p:cNvSpPr>
          <p:nvPr/>
        </p:nvSpPr>
        <p:spPr>
          <a:xfrm>
            <a:off x="2400300" y="4343400"/>
            <a:ext cx="7048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No imputation was necessary.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7DF61F-3B47-48CA-8EB2-C9DC4843767F}"/>
              </a:ext>
            </a:extLst>
          </p:cNvPr>
          <p:cNvSpPr>
            <a:spLocks noGrp="1"/>
          </p:cNvSpPr>
          <p:nvPr/>
        </p:nvSpPr>
        <p:spPr>
          <a:xfrm>
            <a:off x="2209800" y="4819650"/>
            <a:ext cx="66675" cy="66675"/>
          </a:xfrm>
          <a:prstGeom prst="rect">
            <a:avLst/>
          </a:prstGeom>
          <a:solidFill>
            <a:srgbClr val="2D6A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652ED1-E496-47FD-873E-87EF3E31EB0D}"/>
              </a:ext>
            </a:extLst>
          </p:cNvPr>
          <p:cNvSpPr>
            <a:spLocks noGrp="1"/>
          </p:cNvSpPr>
          <p:nvPr/>
        </p:nvSpPr>
        <p:spPr>
          <a:xfrm>
            <a:off x="2400300" y="4743450"/>
            <a:ext cx="7048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No rows were discarded.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4D30B7-F5C5-4DCD-AA44-1957597F8AB8}"/>
              </a:ext>
            </a:extLst>
          </p:cNvPr>
          <p:cNvSpPr>
            <a:spLocks noGrp="1"/>
          </p:cNvSpPr>
          <p:nvPr/>
        </p:nvSpPr>
        <p:spPr>
          <a:xfrm>
            <a:off x="2209800" y="5219700"/>
            <a:ext cx="66675" cy="66675"/>
          </a:xfrm>
          <a:prstGeom prst="rect">
            <a:avLst/>
          </a:prstGeom>
          <a:solidFill>
            <a:srgbClr val="2D6A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AB45C2-88B1-4CEC-A6E7-41EF89AF51B1}"/>
              </a:ext>
            </a:extLst>
          </p:cNvPr>
          <p:cNvSpPr>
            <a:spLocks noGrp="1"/>
          </p:cNvSpPr>
          <p:nvPr/>
        </p:nvSpPr>
        <p:spPr>
          <a:xfrm>
            <a:off x="2400300" y="5143500"/>
            <a:ext cx="7048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No feature was removed manually during preparation.</a:t>
            </a:r>
          </a:p>
        </p:txBody>
      </p:sp>
    </p:spTree>
    <p:extLst>
      <p:ext uri="{BB962C8B-B14F-4D97-AF65-F5344CB8AC3E}">
        <p14:creationId xmlns:p14="http://schemas.microsoft.com/office/powerpoint/2010/main" val="1088630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ackground">
            <a:extLst>
              <a:ext uri="{FF2B5EF4-FFF2-40B4-BE49-F238E27FC236}">
                <a16:creationId xmlns:a16="http://schemas.microsoft.com/office/drawing/2014/main" id="{25F4EC2A-90C5-4B96-9008-64C0E5E601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6AC2B33-C111-4E82-A181-CB512B2CD000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2E948C9-706F-4712-B25F-756ED30AC9D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EXPLORATORY SIGNAL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CBE6DF62-B1DB-4AC6-8405-8E5DF878D861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C0A20F1F-C728-41BF-BDE0-7528D1AEA5F4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The target and top predictors show enough structure to justify regression modeling.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5C33A1C7-59BE-45F8-810E-C10E6DA98D51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Exploration is used for understanding, not manual feature picking.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D15B9057-3D03-4D1C-A459-9CB0FE09ADE6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BCCADB-5027-4D95-A333-7861919864A9}"/>
              </a:ext>
            </a:extLst>
          </p:cNvPr>
          <p:cNvSpPr>
            <a:spLocks noGrp="1"/>
          </p:cNvSpPr>
          <p:nvPr/>
        </p:nvSpPr>
        <p:spPr>
          <a:xfrm>
            <a:off x="704850" y="2286000"/>
            <a:ext cx="3200400" cy="2152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" y="2684992"/>
            <a:ext cx="3048000" cy="135466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FA72404-6D7A-45BE-B85D-E7BC62D6C7A3}"/>
              </a:ext>
            </a:extLst>
          </p:cNvPr>
          <p:cNvSpPr>
            <a:spLocks noGrp="1"/>
          </p:cNvSpPr>
          <p:nvPr/>
        </p:nvSpPr>
        <p:spPr>
          <a:xfrm>
            <a:off x="4400550" y="2190750"/>
            <a:ext cx="3390900" cy="24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76750" y="2510367"/>
            <a:ext cx="3238500" cy="179916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2B19812-6038-42A4-934F-96FD3BC6CC2A}"/>
              </a:ext>
            </a:extLst>
          </p:cNvPr>
          <p:cNvSpPr>
            <a:spLocks noGrp="1"/>
          </p:cNvSpPr>
          <p:nvPr/>
        </p:nvSpPr>
        <p:spPr>
          <a:xfrm>
            <a:off x="8324850" y="2000250"/>
            <a:ext cx="2533650" cy="3009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401050" y="2552700"/>
            <a:ext cx="2381250" cy="1905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D8A4603-1D2C-4D9A-B624-2FEF45E77A04}"/>
              </a:ext>
            </a:extLst>
          </p:cNvPr>
          <p:cNvSpPr>
            <a:spLocks noGrp="1"/>
          </p:cNvSpPr>
          <p:nvPr/>
        </p:nvSpPr>
        <p:spPr>
          <a:xfrm>
            <a:off x="1257300" y="5334000"/>
            <a:ext cx="952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Strongest marginal signals: feature_2, feature_13, feature_9, feature_11.</a:t>
            </a:r>
          </a:p>
        </p:txBody>
      </p:sp>
    </p:spTree>
    <p:extLst>
      <p:ext uri="{BB962C8B-B14F-4D97-AF65-F5344CB8AC3E}">
        <p14:creationId xmlns:p14="http://schemas.microsoft.com/office/powerpoint/2010/main" val="1667880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ackground">
            <a:extLst>
              <a:ext uri="{FF2B5EF4-FFF2-40B4-BE49-F238E27FC236}">
                <a16:creationId xmlns:a16="http://schemas.microsoft.com/office/drawing/2014/main" id="{93EA5049-1A5C-443D-BB1C-9110B5D12E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B7C6AE7-E325-4709-8468-DD0971C0E283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D2EBBE48-C73A-4F85-96B4-5FDC1A6A0F7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PREPARATION RULES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86DF7C27-26D9-4E3B-BB6D-B78FE321B85A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0856CB30-2D47-4B1C-B86C-D67544106560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The preparation stage stays intentionally light because the files are already clean.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0101C8BE-8C5B-4935-BE24-5DAE8C37E22A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point is to preserve signal and avoid arbitrary pre-model surgery.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B803FD53-A95C-4649-9E9B-9CE3BED70308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69F976-8A17-4CAC-B835-AC69755ADA08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49530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4B2071-AE90-49B6-A35D-65E67A11C3B8}"/>
              </a:ext>
            </a:extLst>
          </p:cNvPr>
          <p:cNvSpPr>
            <a:spLocks noGrp="1"/>
          </p:cNvSpPr>
          <p:nvPr/>
        </p:nvSpPr>
        <p:spPr>
          <a:xfrm>
            <a:off x="6572250" y="2143125"/>
            <a:ext cx="49530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01DE69-70A1-49D7-968A-B246A0D378EB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4381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Rules kept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5B2B2E-D3FD-4E61-9BA1-09C67BCA9212}"/>
              </a:ext>
            </a:extLst>
          </p:cNvPr>
          <p:cNvSpPr>
            <a:spLocks noGrp="1"/>
          </p:cNvSpPr>
          <p:nvPr/>
        </p:nvSpPr>
        <p:spPr>
          <a:xfrm>
            <a:off x="952500" y="2981325"/>
            <a:ext cx="66675" cy="66675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F8D487-3337-46FD-9B1C-FB8B1082F75C}"/>
              </a:ext>
            </a:extLst>
          </p:cNvPr>
          <p:cNvSpPr>
            <a:spLocks noGrp="1"/>
          </p:cNvSpPr>
          <p:nvPr/>
        </p:nvSpPr>
        <p:spPr>
          <a:xfrm>
            <a:off x="1143000" y="2905125"/>
            <a:ext cx="4095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Keep all original predictors.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881B3C-0C6E-4E5E-82BA-21B8F4C17764}"/>
              </a:ext>
            </a:extLst>
          </p:cNvPr>
          <p:cNvSpPr>
            <a:spLocks noGrp="1"/>
          </p:cNvSpPr>
          <p:nvPr/>
        </p:nvSpPr>
        <p:spPr>
          <a:xfrm>
            <a:off x="952500" y="3381375"/>
            <a:ext cx="66675" cy="66675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F65B20-C298-4F66-8DDD-A81FD6D8D098}"/>
              </a:ext>
            </a:extLst>
          </p:cNvPr>
          <p:cNvSpPr>
            <a:spLocks noGrp="1"/>
          </p:cNvSpPr>
          <p:nvPr/>
        </p:nvSpPr>
        <p:spPr>
          <a:xfrm>
            <a:off x="1143000" y="3305175"/>
            <a:ext cx="4095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Preserve recovered numeric values.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2DB07B-E4FB-4CB6-94C1-C5C39BE79376}"/>
              </a:ext>
            </a:extLst>
          </p:cNvPr>
          <p:cNvSpPr>
            <a:spLocks noGrp="1"/>
          </p:cNvSpPr>
          <p:nvPr/>
        </p:nvSpPr>
        <p:spPr>
          <a:xfrm>
            <a:off x="952500" y="3781425"/>
            <a:ext cx="66675" cy="66675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883841-AD8C-4BF2-B60B-05072E1306EB}"/>
              </a:ext>
            </a:extLst>
          </p:cNvPr>
          <p:cNvSpPr>
            <a:spLocks noGrp="1"/>
          </p:cNvSpPr>
          <p:nvPr/>
        </p:nvSpPr>
        <p:spPr>
          <a:xfrm>
            <a:off x="1143000" y="3705225"/>
            <a:ext cx="4095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Keep all supervised rows.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501761-5065-4B69-B6FE-FCB4CDFEEF18}"/>
              </a:ext>
            </a:extLst>
          </p:cNvPr>
          <p:cNvSpPr>
            <a:spLocks noGrp="1"/>
          </p:cNvSpPr>
          <p:nvPr/>
        </p:nvSpPr>
        <p:spPr>
          <a:xfrm>
            <a:off x="952500" y="4181475"/>
            <a:ext cx="66675" cy="66675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76001B-49BD-40BC-B389-FF5F2C3427AA}"/>
              </a:ext>
            </a:extLst>
          </p:cNvPr>
          <p:cNvSpPr>
            <a:spLocks noGrp="1"/>
          </p:cNvSpPr>
          <p:nvPr/>
        </p:nvSpPr>
        <p:spPr>
          <a:xfrm>
            <a:off x="1143000" y="4105275"/>
            <a:ext cx="4095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Keep blind test intact for scoring.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36C384-DE09-4D91-86DD-A4B7CBEEF1F7}"/>
              </a:ext>
            </a:extLst>
          </p:cNvPr>
          <p:cNvSpPr>
            <a:spLocks noGrp="1"/>
          </p:cNvSpPr>
          <p:nvPr/>
        </p:nvSpPr>
        <p:spPr>
          <a:xfrm>
            <a:off x="6819900" y="2381250"/>
            <a:ext cx="4381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Rules avoided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B75AD7-E46E-4CD7-A3EF-0FC72DCFED4B}"/>
              </a:ext>
            </a:extLst>
          </p:cNvPr>
          <p:cNvSpPr>
            <a:spLocks noGrp="1"/>
          </p:cNvSpPr>
          <p:nvPr/>
        </p:nvSpPr>
        <p:spPr>
          <a:xfrm>
            <a:off x="6858000" y="2981325"/>
            <a:ext cx="66675" cy="66675"/>
          </a:xfrm>
          <a:prstGeom prst="rect">
            <a:avLst/>
          </a:prstGeom>
          <a:solidFill>
            <a:srgbClr val="2166A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F0FFB6-46D1-4B4F-96E1-E7D64FDF79FE}"/>
              </a:ext>
            </a:extLst>
          </p:cNvPr>
          <p:cNvSpPr>
            <a:spLocks noGrp="1"/>
          </p:cNvSpPr>
          <p:nvPr/>
        </p:nvSpPr>
        <p:spPr>
          <a:xfrm>
            <a:off x="7048500" y="2905125"/>
            <a:ext cx="4095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No manual row removal.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553E96-45D0-41EC-BF54-AAAE421BD749}"/>
              </a:ext>
            </a:extLst>
          </p:cNvPr>
          <p:cNvSpPr>
            <a:spLocks noGrp="1"/>
          </p:cNvSpPr>
          <p:nvPr/>
        </p:nvSpPr>
        <p:spPr>
          <a:xfrm>
            <a:off x="6858000" y="3381375"/>
            <a:ext cx="66675" cy="66675"/>
          </a:xfrm>
          <a:prstGeom prst="rect">
            <a:avLst/>
          </a:prstGeom>
          <a:solidFill>
            <a:srgbClr val="2166A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282B7B-2FA7-4BE2-84FF-B3905351BD6D}"/>
              </a:ext>
            </a:extLst>
          </p:cNvPr>
          <p:cNvSpPr>
            <a:spLocks noGrp="1"/>
          </p:cNvSpPr>
          <p:nvPr/>
        </p:nvSpPr>
        <p:spPr>
          <a:xfrm>
            <a:off x="7048500" y="3305175"/>
            <a:ext cx="4095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No manual feature dropping.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AC843D-B4B3-4A48-B422-76912AF7825A}"/>
              </a:ext>
            </a:extLst>
          </p:cNvPr>
          <p:cNvSpPr>
            <a:spLocks noGrp="1"/>
          </p:cNvSpPr>
          <p:nvPr/>
        </p:nvSpPr>
        <p:spPr>
          <a:xfrm>
            <a:off x="6858000" y="3781425"/>
            <a:ext cx="66675" cy="66675"/>
          </a:xfrm>
          <a:prstGeom prst="rect">
            <a:avLst/>
          </a:prstGeom>
          <a:solidFill>
            <a:srgbClr val="2166A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FB52C70-C261-4924-88DB-F33643132978}"/>
              </a:ext>
            </a:extLst>
          </p:cNvPr>
          <p:cNvSpPr>
            <a:spLocks noGrp="1"/>
          </p:cNvSpPr>
          <p:nvPr/>
        </p:nvSpPr>
        <p:spPr>
          <a:xfrm>
            <a:off x="7048500" y="3705225"/>
            <a:ext cx="4095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No leakage-prone supervised filtering.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2F1BA3-00C0-4A10-A6B6-283F6E1EAEC0}"/>
              </a:ext>
            </a:extLst>
          </p:cNvPr>
          <p:cNvSpPr>
            <a:spLocks noGrp="1"/>
          </p:cNvSpPr>
          <p:nvPr/>
        </p:nvSpPr>
        <p:spPr>
          <a:xfrm>
            <a:off x="6858000" y="4181475"/>
            <a:ext cx="66675" cy="66675"/>
          </a:xfrm>
          <a:prstGeom prst="rect">
            <a:avLst/>
          </a:prstGeom>
          <a:solidFill>
            <a:srgbClr val="2166A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8E8F2F-754F-43AA-8FDD-2CFFD551008E}"/>
              </a:ext>
            </a:extLst>
          </p:cNvPr>
          <p:cNvSpPr>
            <a:spLocks noGrp="1"/>
          </p:cNvSpPr>
          <p:nvPr/>
        </p:nvSpPr>
        <p:spPr>
          <a:xfrm>
            <a:off x="7048500" y="4105275"/>
            <a:ext cx="4095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No transformation outside workflows.</a:t>
            </a:r>
          </a:p>
        </p:txBody>
      </p:sp>
    </p:spTree>
    <p:extLst>
      <p:ext uri="{BB962C8B-B14F-4D97-AF65-F5344CB8AC3E}">
        <p14:creationId xmlns:p14="http://schemas.microsoft.com/office/powerpoint/2010/main" val="735172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ackground">
            <a:extLst>
              <a:ext uri="{FF2B5EF4-FFF2-40B4-BE49-F238E27FC236}">
                <a16:creationId xmlns:a16="http://schemas.microsoft.com/office/drawing/2014/main" id="{0ABA465F-2D5C-45AF-8A07-0A8AB59C3C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BC50032A-24AD-4CFC-B412-1EB18E4AE43E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D456825E-1F01-4824-B0DD-99F2A443609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FEATURE ALIGNMENT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93C444E4-0178-48FC-9D8A-F7DFD21DCC89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DE2C3533-F12C-446F-A529-121801861A1C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Train and blind-test predictors line up exactly before scoring.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BD3E056F-FB23-4DA2-A9A3-C797C135DC04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deployment workflow can safely predict on the blind-test table.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42D5F0A4-6CCC-4D78-B03B-9272B67CE93A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node-training_data_model&#10;20 predictors + target">
            <a:extLst>
              <a:ext uri="{FF2B5EF4-FFF2-40B4-BE49-F238E27FC236}">
                <a16:creationId xmlns:a16="http://schemas.microsoft.com/office/drawing/2014/main" id="{864F82B2-0BC7-4D70-B250-05F200EF3BBD}"/>
              </a:ext>
            </a:extLst>
          </p:cNvPr>
          <p:cNvSpPr>
            <a:spLocks noGrp="1"/>
          </p:cNvSpPr>
          <p:nvPr/>
        </p:nvSpPr>
        <p:spPr>
          <a:xfrm>
            <a:off x="1714500" y="2857500"/>
            <a:ext cx="2476500" cy="1143000"/>
          </a:xfrm>
          <a:prstGeom prst="rect">
            <a:avLst/>
          </a:prstGeom>
          <a:solidFill>
            <a:srgbClr val="E8EEF6"/>
          </a:solidFill>
          <a:ln w="9525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E7D1A4-48DE-4AF4-8943-7D14B1EB1E1D}"/>
              </a:ext>
            </a:extLst>
          </p:cNvPr>
          <p:cNvSpPr>
            <a:spLocks noGrp="1"/>
          </p:cNvSpPr>
          <p:nvPr/>
        </p:nvSpPr>
        <p:spPr>
          <a:xfrm>
            <a:off x="1847850" y="3009900"/>
            <a:ext cx="22098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training_data_model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20 predictors + target</a:t>
            </a:r>
          </a:p>
        </p:txBody>
      </p:sp>
      <p:sp>
        <p:nvSpPr>
          <p:cNvPr id="11" name="node-identical feature names&#10;same order and count">
            <a:extLst>
              <a:ext uri="{FF2B5EF4-FFF2-40B4-BE49-F238E27FC236}">
                <a16:creationId xmlns:a16="http://schemas.microsoft.com/office/drawing/2014/main" id="{31586F94-CFBF-4902-BF0C-8E305079D727}"/>
              </a:ext>
            </a:extLst>
          </p:cNvPr>
          <p:cNvSpPr>
            <a:spLocks noGrp="1"/>
          </p:cNvSpPr>
          <p:nvPr/>
        </p:nvSpPr>
        <p:spPr>
          <a:xfrm>
            <a:off x="4857750" y="2857500"/>
            <a:ext cx="2476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236A85-8FA9-428F-A090-9A2201CDCFB5}"/>
              </a:ext>
            </a:extLst>
          </p:cNvPr>
          <p:cNvSpPr>
            <a:spLocks noGrp="1"/>
          </p:cNvSpPr>
          <p:nvPr/>
        </p:nvSpPr>
        <p:spPr>
          <a:xfrm>
            <a:off x="4991100" y="3009900"/>
            <a:ext cx="22098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identical feature names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same order and count</a:t>
            </a:r>
          </a:p>
        </p:txBody>
      </p:sp>
      <p:sp>
        <p:nvSpPr>
          <p:cNvPr id="13" name="node-blind_test_data_model&#10;20 predictors">
            <a:extLst>
              <a:ext uri="{FF2B5EF4-FFF2-40B4-BE49-F238E27FC236}">
                <a16:creationId xmlns:a16="http://schemas.microsoft.com/office/drawing/2014/main" id="{9EC89A25-34D4-4C25-90BF-DADF518EF77B}"/>
              </a:ext>
            </a:extLst>
          </p:cNvPr>
          <p:cNvSpPr>
            <a:spLocks noGrp="1"/>
          </p:cNvSpPr>
          <p:nvPr/>
        </p:nvSpPr>
        <p:spPr>
          <a:xfrm>
            <a:off x="8001000" y="2857500"/>
            <a:ext cx="2476500" cy="1143000"/>
          </a:xfrm>
          <a:prstGeom prst="rect">
            <a:avLst/>
          </a:prstGeom>
          <a:solidFill>
            <a:srgbClr val="EAF3EC"/>
          </a:solidFill>
          <a:ln w="9525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8F4ACE-61FD-4EF3-A78C-C27D998B6AE8}"/>
              </a:ext>
            </a:extLst>
          </p:cNvPr>
          <p:cNvSpPr>
            <a:spLocks noGrp="1"/>
          </p:cNvSpPr>
          <p:nvPr/>
        </p:nvSpPr>
        <p:spPr>
          <a:xfrm>
            <a:off x="8134350" y="3009900"/>
            <a:ext cx="22098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blind_test_data_model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20 predictors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37F7A2-B42F-49DC-A0C8-898C3DFE9D55}"/>
              </a:ext>
            </a:extLst>
          </p:cNvPr>
          <p:cNvSpPr>
            <a:spLocks noGrp="1"/>
          </p:cNvSpPr>
          <p:nvPr/>
        </p:nvSpPr>
        <p:spPr>
          <a:xfrm>
            <a:off x="4343400" y="32766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5F0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01324D-01D8-4DC8-9482-B82CFBA16FCF}"/>
              </a:ext>
            </a:extLst>
          </p:cNvPr>
          <p:cNvSpPr>
            <a:spLocks noGrp="1"/>
          </p:cNvSpPr>
          <p:nvPr/>
        </p:nvSpPr>
        <p:spPr>
          <a:xfrm>
            <a:off x="7486650" y="32766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5F0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90AA4A-321C-407A-9F80-3CBEC18B13DB}"/>
              </a:ext>
            </a:extLst>
          </p:cNvPr>
          <p:cNvSpPr>
            <a:spLocks noGrp="1"/>
          </p:cNvSpPr>
          <p:nvPr/>
        </p:nvSpPr>
        <p:spPr>
          <a:xfrm>
            <a:off x="1809750" y="4705350"/>
            <a:ext cx="857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This alignment is the quiet guardrail that prevents scoring-time schema mismatch.</a:t>
            </a:r>
          </a:p>
        </p:txBody>
      </p:sp>
    </p:spTree>
    <p:extLst>
      <p:ext uri="{BB962C8B-B14F-4D97-AF65-F5344CB8AC3E}">
        <p14:creationId xmlns:p14="http://schemas.microsoft.com/office/powerpoint/2010/main" val="1423055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ackground">
            <a:extLst>
              <a:ext uri="{FF2B5EF4-FFF2-40B4-BE49-F238E27FC236}">
                <a16:creationId xmlns:a16="http://schemas.microsoft.com/office/drawing/2014/main" id="{BD6D87D5-54C4-4BA6-A5AC-5C139861CD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FB7B34DD-496A-4263-89DB-4E6AF477DC8B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B8B6904A-3DE0-4ADF-A3D8-9DEC0E37B9E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RECIPE STRATEGY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138F4DC2-B88C-4439-84E2-D07098EA16B1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950FD0AF-D2FF-4828-8DD5-7C917115BFA2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Preprocessing is model-specific and kept inside tidymodels workflows.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EF061141-BA94-46F5-8978-3C2F3CD984B8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Each estimator competes under transformations that make statistical sense for it.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B4B35230-A8FF-4295-AAA2-F655D2D2C2A9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E06EA8-4863-4EA8-A5D0-3A0CDA37176F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0477500" cy="552450"/>
          </a:xfrm>
          <a:prstGeom prst="rect">
            <a:avLst/>
          </a:prstGeom>
          <a:solidFill>
            <a:srgbClr val="16232E"/>
          </a:solidFill>
          <a:ln w="9525">
            <a:solidFill>
              <a:srgbClr val="16232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7BFE16-27E3-46D6-9E4E-0A236BE07044}"/>
              </a:ext>
            </a:extLst>
          </p:cNvPr>
          <p:cNvSpPr>
            <a:spLocks noGrp="1"/>
          </p:cNvSpPr>
          <p:nvPr/>
        </p:nvSpPr>
        <p:spPr>
          <a:xfrm>
            <a:off x="971550" y="2428875"/>
            <a:ext cx="326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Recipe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D4A814-5E4E-402A-8E7C-2D2BFC170D41}"/>
              </a:ext>
            </a:extLst>
          </p:cNvPr>
          <p:cNvSpPr>
            <a:spLocks noGrp="1"/>
          </p:cNvSpPr>
          <p:nvPr/>
        </p:nvSpPr>
        <p:spPr>
          <a:xfrm>
            <a:off x="4464050" y="2428875"/>
            <a:ext cx="326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Steps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B8D70C-B317-43DF-88B7-2F0BD7A3C648}"/>
              </a:ext>
            </a:extLst>
          </p:cNvPr>
          <p:cNvSpPr>
            <a:spLocks noGrp="1"/>
          </p:cNvSpPr>
          <p:nvPr/>
        </p:nvSpPr>
        <p:spPr>
          <a:xfrm>
            <a:off x="7956550" y="2428875"/>
            <a:ext cx="326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Used by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A32FA8-F9A6-4A86-B738-6760B1ED417C}"/>
              </a:ext>
            </a:extLst>
          </p:cNvPr>
          <p:cNvSpPr>
            <a:spLocks noGrp="1"/>
          </p:cNvSpPr>
          <p:nvPr/>
        </p:nvSpPr>
        <p:spPr>
          <a:xfrm>
            <a:off x="857250" y="2886075"/>
            <a:ext cx="10477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43CBD5-0A34-4D8B-88FB-38E7226BBA2B}"/>
              </a:ext>
            </a:extLst>
          </p:cNvPr>
          <p:cNvSpPr>
            <a:spLocks noGrp="1"/>
          </p:cNvSpPr>
          <p:nvPr/>
        </p:nvSpPr>
        <p:spPr>
          <a:xfrm>
            <a:off x="971550" y="2981325"/>
            <a:ext cx="326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base_recipe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E859A2-51D5-4AF5-AF2E-30767CDF5A01}"/>
              </a:ext>
            </a:extLst>
          </p:cNvPr>
          <p:cNvSpPr>
            <a:spLocks noGrp="1"/>
          </p:cNvSpPr>
          <p:nvPr/>
        </p:nvSpPr>
        <p:spPr>
          <a:xfrm>
            <a:off x="4464050" y="2981325"/>
            <a:ext cx="326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zero-variance filtering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9EFA1E-AD3E-415E-AC9D-D849C6DB2A39}"/>
              </a:ext>
            </a:extLst>
          </p:cNvPr>
          <p:cNvSpPr>
            <a:spLocks noGrp="1"/>
          </p:cNvSpPr>
          <p:nvPr/>
        </p:nvSpPr>
        <p:spPr>
          <a:xfrm>
            <a:off x="7956550" y="2981325"/>
            <a:ext cx="326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OLS raw, Random Forest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ABF29B-80A1-446C-8EA4-8D8F425B8F69}"/>
              </a:ext>
            </a:extLst>
          </p:cNvPr>
          <p:cNvSpPr>
            <a:spLocks noGrp="1"/>
          </p:cNvSpPr>
          <p:nvPr/>
        </p:nvSpPr>
        <p:spPr>
          <a:xfrm>
            <a:off x="857250" y="3438525"/>
            <a:ext cx="10477500" cy="552450"/>
          </a:xfrm>
          <a:prstGeom prst="rect">
            <a:avLst/>
          </a:prstGeom>
          <a:solidFill>
            <a:srgbClr val="FBF9F5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C4FDA3-308C-474F-ABB1-134464F69C37}"/>
              </a:ext>
            </a:extLst>
          </p:cNvPr>
          <p:cNvSpPr>
            <a:spLocks noGrp="1"/>
          </p:cNvSpPr>
          <p:nvPr/>
        </p:nvSpPr>
        <p:spPr>
          <a:xfrm>
            <a:off x="971550" y="3533775"/>
            <a:ext cx="326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normalized_recipe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7AB5AC-27F5-43A5-8FA7-C9E444234E12}"/>
              </a:ext>
            </a:extLst>
          </p:cNvPr>
          <p:cNvSpPr>
            <a:spLocks noGrp="1"/>
          </p:cNvSpPr>
          <p:nvPr/>
        </p:nvSpPr>
        <p:spPr>
          <a:xfrm>
            <a:off x="4464050" y="3533775"/>
            <a:ext cx="326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zero-variance + scaling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39F90D-7611-479F-B2DA-EA9070B68218}"/>
              </a:ext>
            </a:extLst>
          </p:cNvPr>
          <p:cNvSpPr>
            <a:spLocks noGrp="1"/>
          </p:cNvSpPr>
          <p:nvPr/>
        </p:nvSpPr>
        <p:spPr>
          <a:xfrm>
            <a:off x="7956550" y="3533775"/>
            <a:ext cx="326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Ridge, Lasso, Elastic Net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9D8AE1-0BEF-4388-905F-BA65A4ADF27E}"/>
              </a:ext>
            </a:extLst>
          </p:cNvPr>
          <p:cNvSpPr>
            <a:spLocks noGrp="1"/>
          </p:cNvSpPr>
          <p:nvPr/>
        </p:nvSpPr>
        <p:spPr>
          <a:xfrm>
            <a:off x="857250" y="3990975"/>
            <a:ext cx="10477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27644A-B772-410E-9039-E1B89AB56710}"/>
              </a:ext>
            </a:extLst>
          </p:cNvPr>
          <p:cNvSpPr>
            <a:spLocks noGrp="1"/>
          </p:cNvSpPr>
          <p:nvPr/>
        </p:nvSpPr>
        <p:spPr>
          <a:xfrm>
            <a:off x="971550" y="4086225"/>
            <a:ext cx="326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pca_recipe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D0DDDF-0FB2-4157-A374-DFAA7F5E24F0}"/>
              </a:ext>
            </a:extLst>
          </p:cNvPr>
          <p:cNvSpPr>
            <a:spLocks noGrp="1"/>
          </p:cNvSpPr>
          <p:nvPr/>
        </p:nvSpPr>
        <p:spPr>
          <a:xfrm>
            <a:off x="4464050" y="4086225"/>
            <a:ext cx="326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zero-variance + scaling + PCA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4756D0-16B8-4A18-82C1-665CBA05406E}"/>
              </a:ext>
            </a:extLst>
          </p:cNvPr>
          <p:cNvSpPr>
            <a:spLocks noGrp="1"/>
          </p:cNvSpPr>
          <p:nvPr/>
        </p:nvSpPr>
        <p:spPr>
          <a:xfrm>
            <a:off x="7956550" y="4086225"/>
            <a:ext cx="326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OLS/Ridge/Lasso/Elastic Net PCA variants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726084-5A88-4C57-958C-90A8EEC3FA6E}"/>
              </a:ext>
            </a:extLst>
          </p:cNvPr>
          <p:cNvSpPr>
            <a:spLocks noGrp="1"/>
          </p:cNvSpPr>
          <p:nvPr/>
        </p:nvSpPr>
        <p:spPr>
          <a:xfrm>
            <a:off x="1638300" y="4810125"/>
            <a:ext cx="895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Design principle: recipes are estimated inside resampling, not hand-applied once to the full dataset.</a:t>
            </a:r>
          </a:p>
        </p:txBody>
      </p:sp>
    </p:spTree>
    <p:extLst>
      <p:ext uri="{BB962C8B-B14F-4D97-AF65-F5344CB8AC3E}">
        <p14:creationId xmlns:p14="http://schemas.microsoft.com/office/powerpoint/2010/main" val="557777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ackground">
            <a:extLst>
              <a:ext uri="{FF2B5EF4-FFF2-40B4-BE49-F238E27FC236}">
                <a16:creationId xmlns:a16="http://schemas.microsoft.com/office/drawing/2014/main" id="{F06ABEA8-9BB7-4A6A-B736-442D9C2CBC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7B1AD02D-2B35-4F56-9A27-90F961E13B1A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1495D57-A61F-497B-91AE-4ADE13C415E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FEATURE-SELECTION RATIONALE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573AE03B-32E6-4BF2-8FCE-4047469F80B8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69032F99-65D1-479A-A77B-ECED1053F2F0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The notebook tests reduction, but does not manually cherry-pick variables.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80D9EC6-CFBC-44C9-9D5C-253CA240806A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PCA and lasso are evaluated as modeling variants rather than preprocessing shortcuts.</a:t>
            </a:r>
          </a:p>
        </p:txBody>
      </p:sp>
      <p:sp>
        <p:nvSpPr>
          <p:cNvPr id="7" name="source-footer">
            <a:extLst>
              <a:ext uri="{FF2B5EF4-FFF2-40B4-BE49-F238E27FC236}">
                <a16:creationId xmlns:a16="http://schemas.microsoft.com/office/drawing/2014/main" id="{5E4C05D3-945A-46E7-A19D-3612BC39522D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Model Notebook Documentation.Rmd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B743940E-37DE-481D-83AC-1B9B8E53E458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" name="node-All predictors retained">
            <a:extLst>
              <a:ext uri="{FF2B5EF4-FFF2-40B4-BE49-F238E27FC236}">
                <a16:creationId xmlns:a16="http://schemas.microsoft.com/office/drawing/2014/main" id="{FD4CA665-D8A7-4E3D-95AF-84F84845D6F6}"/>
              </a:ext>
            </a:extLst>
          </p:cNvPr>
          <p:cNvSpPr>
            <a:spLocks noGrp="1"/>
          </p:cNvSpPr>
          <p:nvPr/>
        </p:nvSpPr>
        <p:spPr>
          <a:xfrm>
            <a:off x="876300" y="3067050"/>
            <a:ext cx="2000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48E93D-E60E-4B33-A776-2DBA829693DA}"/>
              </a:ext>
            </a:extLst>
          </p:cNvPr>
          <p:cNvSpPr>
            <a:spLocks noGrp="1"/>
          </p:cNvSpPr>
          <p:nvPr/>
        </p:nvSpPr>
        <p:spPr>
          <a:xfrm>
            <a:off x="1009650" y="3219450"/>
            <a:ext cx="1733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All predictors retained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87A789-471E-490B-A7F2-CC96C7BF8675}"/>
              </a:ext>
            </a:extLst>
          </p:cNvPr>
          <p:cNvSpPr>
            <a:spLocks noGrp="1"/>
          </p:cNvSpPr>
          <p:nvPr/>
        </p:nvSpPr>
        <p:spPr>
          <a:xfrm>
            <a:off x="3009900" y="33147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2" name="node-PCA branch&#10;reduced components">
            <a:extLst>
              <a:ext uri="{FF2B5EF4-FFF2-40B4-BE49-F238E27FC236}">
                <a16:creationId xmlns:a16="http://schemas.microsoft.com/office/drawing/2014/main" id="{04306706-6B0F-4343-8B74-7F9C564DDC47}"/>
              </a:ext>
            </a:extLst>
          </p:cNvPr>
          <p:cNvSpPr>
            <a:spLocks noGrp="1"/>
          </p:cNvSpPr>
          <p:nvPr/>
        </p:nvSpPr>
        <p:spPr>
          <a:xfrm>
            <a:off x="3429000" y="2857500"/>
            <a:ext cx="2000250" cy="1200150"/>
          </a:xfrm>
          <a:prstGeom prst="rect">
            <a:avLst/>
          </a:prstGeom>
          <a:solidFill>
            <a:srgbClr val="E8EEF6"/>
          </a:solidFill>
          <a:ln w="9525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803E01-BA0F-487D-B0E0-D65DE7EA0AF2}"/>
              </a:ext>
            </a:extLst>
          </p:cNvPr>
          <p:cNvSpPr>
            <a:spLocks noGrp="1"/>
          </p:cNvSpPr>
          <p:nvPr/>
        </p:nvSpPr>
        <p:spPr>
          <a:xfrm>
            <a:off x="3562350" y="3009900"/>
            <a:ext cx="17335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PCA branch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reduced components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FEF5F2-2012-4B12-990E-35948DC0E88A}"/>
              </a:ext>
            </a:extLst>
          </p:cNvPr>
          <p:cNvSpPr>
            <a:spLocks noGrp="1"/>
          </p:cNvSpPr>
          <p:nvPr/>
        </p:nvSpPr>
        <p:spPr>
          <a:xfrm>
            <a:off x="5562600" y="33147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node-Lasso branch&#10;coefficient sparsity">
            <a:extLst>
              <a:ext uri="{FF2B5EF4-FFF2-40B4-BE49-F238E27FC236}">
                <a16:creationId xmlns:a16="http://schemas.microsoft.com/office/drawing/2014/main" id="{7E095F55-B352-49EB-8592-944757AB538D}"/>
              </a:ext>
            </a:extLst>
          </p:cNvPr>
          <p:cNvSpPr>
            <a:spLocks noGrp="1"/>
          </p:cNvSpPr>
          <p:nvPr/>
        </p:nvSpPr>
        <p:spPr>
          <a:xfrm>
            <a:off x="5981700" y="2857500"/>
            <a:ext cx="2000250" cy="1200150"/>
          </a:xfrm>
          <a:prstGeom prst="rect">
            <a:avLst/>
          </a:prstGeom>
          <a:solidFill>
            <a:srgbClr val="EFE8DC"/>
          </a:solidFill>
          <a:ln w="9525">
            <a:solidFill>
              <a:srgbClr val="D95F0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8477AC-25C1-47FB-ABC1-EA334B3075F6}"/>
              </a:ext>
            </a:extLst>
          </p:cNvPr>
          <p:cNvSpPr>
            <a:spLocks noGrp="1"/>
          </p:cNvSpPr>
          <p:nvPr/>
        </p:nvSpPr>
        <p:spPr>
          <a:xfrm>
            <a:off x="6115050" y="3009900"/>
            <a:ext cx="17335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Lasso branch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coefficient sparsity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AA13CF-0E27-471D-8244-FF947AF7190D}"/>
              </a:ext>
            </a:extLst>
          </p:cNvPr>
          <p:cNvSpPr>
            <a:spLocks noGrp="1"/>
          </p:cNvSpPr>
          <p:nvPr/>
        </p:nvSpPr>
        <p:spPr>
          <a:xfrm>
            <a:off x="8115300" y="33147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node-CV decides&#10;what survives">
            <a:extLst>
              <a:ext uri="{FF2B5EF4-FFF2-40B4-BE49-F238E27FC236}">
                <a16:creationId xmlns:a16="http://schemas.microsoft.com/office/drawing/2014/main" id="{E789C991-00B3-479B-B263-088049F52377}"/>
              </a:ext>
            </a:extLst>
          </p:cNvPr>
          <p:cNvSpPr>
            <a:spLocks noGrp="1"/>
          </p:cNvSpPr>
          <p:nvPr/>
        </p:nvSpPr>
        <p:spPr>
          <a:xfrm>
            <a:off x="8534400" y="2857500"/>
            <a:ext cx="2000250" cy="1200150"/>
          </a:xfrm>
          <a:prstGeom prst="rect">
            <a:avLst/>
          </a:prstGeom>
          <a:solidFill>
            <a:srgbClr val="EAF3EC"/>
          </a:solidFill>
          <a:ln w="9525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B5D9E8-07A1-450E-9749-A47C0AD290A0}"/>
              </a:ext>
            </a:extLst>
          </p:cNvPr>
          <p:cNvSpPr>
            <a:spLocks noGrp="1"/>
          </p:cNvSpPr>
          <p:nvPr/>
        </p:nvSpPr>
        <p:spPr>
          <a:xfrm>
            <a:off x="8667750" y="3009900"/>
            <a:ext cx="17335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CV decides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what survives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F41F28-A748-4C7C-9299-E1FE96F0E724}"/>
              </a:ext>
            </a:extLst>
          </p:cNvPr>
          <p:cNvSpPr>
            <a:spLocks noGrp="1"/>
          </p:cNvSpPr>
          <p:nvPr/>
        </p:nvSpPr>
        <p:spPr>
          <a:xfrm>
            <a:off x="1485900" y="4743450"/>
            <a:ext cx="923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Result: the best final family was Random Forest with minimal preprocessing, not a reduced linear variant.</a:t>
            </a:r>
          </a:p>
        </p:txBody>
      </p:sp>
    </p:spTree>
    <p:extLst>
      <p:ext uri="{BB962C8B-B14F-4D97-AF65-F5344CB8AC3E}">
        <p14:creationId xmlns:p14="http://schemas.microsoft.com/office/powerpoint/2010/main" val="1607259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ackground">
            <a:extLst>
              <a:ext uri="{FF2B5EF4-FFF2-40B4-BE49-F238E27FC236}">
                <a16:creationId xmlns:a16="http://schemas.microsoft.com/office/drawing/2014/main" id="{3B15444D-4C79-47D0-8E61-6E1F88A59F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3493949B-F3B2-4675-9436-FBCA982E4F89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99D0ACD-509C-4194-B8A5-0E12DFB9076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VALIDATION DESIGN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79A00C48-3E45-4B30-A39A-F6D36D9F3996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133894FF-6F56-4CF3-9082-1528D6E884EB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The model-selection loop protects the final holdout from early decisions.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1574ADCF-2501-4F00-BBDF-772FE233A880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training split carries the model-development burden; holdout is reserved for final confirmation.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2E6495E8-1D05-4227-9716-C810904A1C03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9" name="node-Full training data&#10;800 rows">
            <a:extLst>
              <a:ext uri="{FF2B5EF4-FFF2-40B4-BE49-F238E27FC236}">
                <a16:creationId xmlns:a16="http://schemas.microsoft.com/office/drawing/2014/main" id="{F7FB96D6-D80F-42C2-80AB-E75876E0E15E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18097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46386E-7985-413E-B104-E3D6CC58DDA6}"/>
              </a:ext>
            </a:extLst>
          </p:cNvPr>
          <p:cNvSpPr>
            <a:spLocks noGrp="1"/>
          </p:cNvSpPr>
          <p:nvPr/>
        </p:nvSpPr>
        <p:spPr>
          <a:xfrm>
            <a:off x="1181100" y="2933700"/>
            <a:ext cx="15430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Full training data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800 rows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DA46A1-E119-469C-B174-6D982D38F4F5}"/>
              </a:ext>
            </a:extLst>
          </p:cNvPr>
          <p:cNvSpPr>
            <a:spLocks noGrp="1"/>
          </p:cNvSpPr>
          <p:nvPr/>
        </p:nvSpPr>
        <p:spPr>
          <a:xfrm>
            <a:off x="3009900" y="30861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2" name="node-80 percent train&#10;5-fold CV">
            <a:extLst>
              <a:ext uri="{FF2B5EF4-FFF2-40B4-BE49-F238E27FC236}">
                <a16:creationId xmlns:a16="http://schemas.microsoft.com/office/drawing/2014/main" id="{FBA5B849-47AB-4064-B721-396FFE98F681}"/>
              </a:ext>
            </a:extLst>
          </p:cNvPr>
          <p:cNvSpPr>
            <a:spLocks noGrp="1"/>
          </p:cNvSpPr>
          <p:nvPr/>
        </p:nvSpPr>
        <p:spPr>
          <a:xfrm>
            <a:off x="3429000" y="2476500"/>
            <a:ext cx="2095500" cy="1428750"/>
          </a:xfrm>
          <a:prstGeom prst="rect">
            <a:avLst/>
          </a:prstGeom>
          <a:solidFill>
            <a:srgbClr val="E8EEF6"/>
          </a:solidFill>
          <a:ln w="9525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E6C20A-CFC4-4269-A624-59DA7C58AFE2}"/>
              </a:ext>
            </a:extLst>
          </p:cNvPr>
          <p:cNvSpPr>
            <a:spLocks noGrp="1"/>
          </p:cNvSpPr>
          <p:nvPr/>
        </p:nvSpPr>
        <p:spPr>
          <a:xfrm>
            <a:off x="3562350" y="2628900"/>
            <a:ext cx="182880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80 percent train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5-fold CV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14DBA-6853-440D-9EAC-F81095DF86BC}"/>
              </a:ext>
            </a:extLst>
          </p:cNvPr>
          <p:cNvSpPr>
            <a:spLocks noGrp="1"/>
          </p:cNvSpPr>
          <p:nvPr/>
        </p:nvSpPr>
        <p:spPr>
          <a:xfrm>
            <a:off x="5676900" y="30861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node-Family + variant&#10;selection by RMSE">
            <a:extLst>
              <a:ext uri="{FF2B5EF4-FFF2-40B4-BE49-F238E27FC236}">
                <a16:creationId xmlns:a16="http://schemas.microsoft.com/office/drawing/2014/main" id="{D1E538F1-76DD-4EE7-A649-DEB6DCCB59DD}"/>
              </a:ext>
            </a:extLst>
          </p:cNvPr>
          <p:cNvSpPr>
            <a:spLocks noGrp="1"/>
          </p:cNvSpPr>
          <p:nvPr/>
        </p:nvSpPr>
        <p:spPr>
          <a:xfrm>
            <a:off x="6096000" y="2476500"/>
            <a:ext cx="2095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F4733C-1773-422F-BFCC-D070955D388D}"/>
              </a:ext>
            </a:extLst>
          </p:cNvPr>
          <p:cNvSpPr>
            <a:spLocks noGrp="1"/>
          </p:cNvSpPr>
          <p:nvPr/>
        </p:nvSpPr>
        <p:spPr>
          <a:xfrm>
            <a:off x="6229350" y="2628900"/>
            <a:ext cx="182880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Family + variant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selection by RMSE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B50E28-1E30-451C-9DBC-56EC0E8AD3F6}"/>
              </a:ext>
            </a:extLst>
          </p:cNvPr>
          <p:cNvSpPr>
            <a:spLocks noGrp="1"/>
          </p:cNvSpPr>
          <p:nvPr/>
        </p:nvSpPr>
        <p:spPr>
          <a:xfrm>
            <a:off x="8343900" y="30861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node-20 percent holdout&#10;last_fit once">
            <a:extLst>
              <a:ext uri="{FF2B5EF4-FFF2-40B4-BE49-F238E27FC236}">
                <a16:creationId xmlns:a16="http://schemas.microsoft.com/office/drawing/2014/main" id="{06D4ACA8-5234-4AC1-B323-9E5893DFFD41}"/>
              </a:ext>
            </a:extLst>
          </p:cNvPr>
          <p:cNvSpPr>
            <a:spLocks noGrp="1"/>
          </p:cNvSpPr>
          <p:nvPr/>
        </p:nvSpPr>
        <p:spPr>
          <a:xfrm>
            <a:off x="8763000" y="2476500"/>
            <a:ext cx="2095500" cy="1428750"/>
          </a:xfrm>
          <a:prstGeom prst="rect">
            <a:avLst/>
          </a:prstGeom>
          <a:solidFill>
            <a:srgbClr val="EAF3EC"/>
          </a:solidFill>
          <a:ln w="9525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DE8833-B190-49B3-9CB3-A9C9DB3D4A8F}"/>
              </a:ext>
            </a:extLst>
          </p:cNvPr>
          <p:cNvSpPr>
            <a:spLocks noGrp="1"/>
          </p:cNvSpPr>
          <p:nvPr/>
        </p:nvSpPr>
        <p:spPr>
          <a:xfrm>
            <a:off x="8896350" y="2628900"/>
            <a:ext cx="182880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20 percent holdout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last_fit once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ED8155-ED82-42DA-A365-23F08A03042B}"/>
              </a:ext>
            </a:extLst>
          </p:cNvPr>
          <p:cNvSpPr>
            <a:spLocks noGrp="1"/>
          </p:cNvSpPr>
          <p:nvPr/>
        </p:nvSpPr>
        <p:spPr>
          <a:xfrm>
            <a:off x="2095500" y="4686300"/>
            <a:ext cx="800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Primary metric bundle: RMSE, MAE, R^2. Selection criterion: RMSE.</a:t>
            </a:r>
          </a:p>
        </p:txBody>
      </p:sp>
    </p:spTree>
    <p:extLst>
      <p:ext uri="{BB962C8B-B14F-4D97-AF65-F5344CB8AC3E}">
        <p14:creationId xmlns:p14="http://schemas.microsoft.com/office/powerpoint/2010/main" val="410335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ackground">
            <a:extLst>
              <a:ext uri="{FF2B5EF4-FFF2-40B4-BE49-F238E27FC236}">
                <a16:creationId xmlns:a16="http://schemas.microsoft.com/office/drawing/2014/main" id="{B1ED5477-9AF5-4DEB-BC56-68CD3CEBDA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FFE9764A-2A29-4092-B646-94BA09D7DF42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29B7CB70-E15A-4A39-9505-E0B21CCB4B1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CANDIDATE FAMILIES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65D300E5-47A1-4B8E-9C6C-8ACAEB5C67EE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0FC23178-DDFA-461F-8B15-C575635DD8B3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The comparison balances interpretability, regularization, and nonlinear flexibility.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FBA02355-7026-43F9-A059-D955E0DDDA8D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OLS remains the diagnostic baseline even though the final winner is nonlinear.</a:t>
            </a:r>
          </a:p>
        </p:txBody>
      </p:sp>
      <p:sp>
        <p:nvSpPr>
          <p:cNvPr id="7" name="source-footer">
            <a:extLst>
              <a:ext uri="{FF2B5EF4-FFF2-40B4-BE49-F238E27FC236}">
                <a16:creationId xmlns:a16="http://schemas.microsoft.com/office/drawing/2014/main" id="{B6C6E2B2-5DAB-4564-91C8-03EB856B86DE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Model Notebook Documentation.Rmd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882B9D37-5C47-4A65-B8A7-087A37CB348B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39CAA1-E80B-4394-B292-217FFB61E3CB}"/>
              </a:ext>
            </a:extLst>
          </p:cNvPr>
          <p:cNvSpPr>
            <a:spLocks noGrp="1"/>
          </p:cNvSpPr>
          <p:nvPr/>
        </p:nvSpPr>
        <p:spPr>
          <a:xfrm>
            <a:off x="876300" y="2143125"/>
            <a:ext cx="10439400" cy="457200"/>
          </a:xfrm>
          <a:prstGeom prst="rect">
            <a:avLst/>
          </a:prstGeom>
          <a:solidFill>
            <a:srgbClr val="16232E"/>
          </a:solidFill>
          <a:ln w="9525">
            <a:solidFill>
              <a:srgbClr val="16232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3C2A6F-584C-4C17-A4C5-120B1DB27D8E}"/>
              </a:ext>
            </a:extLst>
          </p:cNvPr>
          <p:cNvSpPr>
            <a:spLocks noGrp="1"/>
          </p:cNvSpPr>
          <p:nvPr/>
        </p:nvSpPr>
        <p:spPr>
          <a:xfrm>
            <a:off x="990600" y="22383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Family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577FDC-AE72-4E40-B04A-AC8C050AE696}"/>
              </a:ext>
            </a:extLst>
          </p:cNvPr>
          <p:cNvSpPr>
            <a:spLocks noGrp="1"/>
          </p:cNvSpPr>
          <p:nvPr/>
        </p:nvSpPr>
        <p:spPr>
          <a:xfrm>
            <a:off x="4470400" y="22383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 in comparison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E5A8B9-04F2-4972-8341-8D66E0A8AF6D}"/>
              </a:ext>
            </a:extLst>
          </p:cNvPr>
          <p:cNvSpPr>
            <a:spLocks noGrp="1"/>
          </p:cNvSpPr>
          <p:nvPr/>
        </p:nvSpPr>
        <p:spPr>
          <a:xfrm>
            <a:off x="7950200" y="22383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Variants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589B6B-4EB9-41D6-B12F-90CCE39A6D44}"/>
              </a:ext>
            </a:extLst>
          </p:cNvPr>
          <p:cNvSpPr>
            <a:spLocks noGrp="1"/>
          </p:cNvSpPr>
          <p:nvPr/>
        </p:nvSpPr>
        <p:spPr>
          <a:xfrm>
            <a:off x="876300" y="2600325"/>
            <a:ext cx="10439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AA7BA0-DB4C-4518-907A-BC8DDB2A8C88}"/>
              </a:ext>
            </a:extLst>
          </p:cNvPr>
          <p:cNvSpPr>
            <a:spLocks noGrp="1"/>
          </p:cNvSpPr>
          <p:nvPr/>
        </p:nvSpPr>
        <p:spPr>
          <a:xfrm>
            <a:off x="990600" y="26955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OLS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F4BB1E-60CA-4BCD-8EF4-4ED06F97C9BD}"/>
              </a:ext>
            </a:extLst>
          </p:cNvPr>
          <p:cNvSpPr>
            <a:spLocks noGrp="1"/>
          </p:cNvSpPr>
          <p:nvPr/>
        </p:nvSpPr>
        <p:spPr>
          <a:xfrm>
            <a:off x="4470400" y="26955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transparent linear baseline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08A67D-199A-4B6A-8552-2832D7098527}"/>
              </a:ext>
            </a:extLst>
          </p:cNvPr>
          <p:cNvSpPr>
            <a:spLocks noGrp="1"/>
          </p:cNvSpPr>
          <p:nvPr/>
        </p:nvSpPr>
        <p:spPr>
          <a:xfrm>
            <a:off x="7950200" y="26955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raw, PCA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DC058B-F21E-4B81-A6A8-5BFA057132B3}"/>
              </a:ext>
            </a:extLst>
          </p:cNvPr>
          <p:cNvSpPr>
            <a:spLocks noGrp="1"/>
          </p:cNvSpPr>
          <p:nvPr/>
        </p:nvSpPr>
        <p:spPr>
          <a:xfrm>
            <a:off x="876300" y="3057525"/>
            <a:ext cx="10439400" cy="457200"/>
          </a:xfrm>
          <a:prstGeom prst="rect">
            <a:avLst/>
          </a:prstGeom>
          <a:solidFill>
            <a:srgbClr val="FBF9F5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747D69-0AC0-4800-8087-5F8449AEF7B4}"/>
              </a:ext>
            </a:extLst>
          </p:cNvPr>
          <p:cNvSpPr>
            <a:spLocks noGrp="1"/>
          </p:cNvSpPr>
          <p:nvPr/>
        </p:nvSpPr>
        <p:spPr>
          <a:xfrm>
            <a:off x="990600" y="31527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Ridge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2C07D9-4137-4F83-9B72-A6DA2784D819}"/>
              </a:ext>
            </a:extLst>
          </p:cNvPr>
          <p:cNvSpPr>
            <a:spLocks noGrp="1"/>
          </p:cNvSpPr>
          <p:nvPr/>
        </p:nvSpPr>
        <p:spPr>
          <a:xfrm>
            <a:off x="4470400" y="31527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linear shrinkage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BED0B8-CA95-442C-A4A8-8EB7215082CF}"/>
              </a:ext>
            </a:extLst>
          </p:cNvPr>
          <p:cNvSpPr>
            <a:spLocks noGrp="1"/>
          </p:cNvSpPr>
          <p:nvPr/>
        </p:nvSpPr>
        <p:spPr>
          <a:xfrm>
            <a:off x="7950200" y="31527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normalized, PCA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230CF7-EFD8-4946-8044-9138A1D1B785}"/>
              </a:ext>
            </a:extLst>
          </p:cNvPr>
          <p:cNvSpPr>
            <a:spLocks noGrp="1"/>
          </p:cNvSpPr>
          <p:nvPr/>
        </p:nvSpPr>
        <p:spPr>
          <a:xfrm>
            <a:off x="876300" y="3514725"/>
            <a:ext cx="10439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895046-7EB0-448B-8229-999087C49C16}"/>
              </a:ext>
            </a:extLst>
          </p:cNvPr>
          <p:cNvSpPr>
            <a:spLocks noGrp="1"/>
          </p:cNvSpPr>
          <p:nvPr/>
        </p:nvSpPr>
        <p:spPr>
          <a:xfrm>
            <a:off x="990600" y="36099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Lasso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0CD255-DC94-4D63-82EF-E2965DBFA83A}"/>
              </a:ext>
            </a:extLst>
          </p:cNvPr>
          <p:cNvSpPr>
            <a:spLocks noGrp="1"/>
          </p:cNvSpPr>
          <p:nvPr/>
        </p:nvSpPr>
        <p:spPr>
          <a:xfrm>
            <a:off x="4470400" y="36099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linear shrinkage + sparsity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ECC766-1510-442C-B589-63B316366E54}"/>
              </a:ext>
            </a:extLst>
          </p:cNvPr>
          <p:cNvSpPr>
            <a:spLocks noGrp="1"/>
          </p:cNvSpPr>
          <p:nvPr/>
        </p:nvSpPr>
        <p:spPr>
          <a:xfrm>
            <a:off x="7950200" y="36099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normalized, PCA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4A424C-1576-4AB9-90F1-D5B39FEE771D}"/>
              </a:ext>
            </a:extLst>
          </p:cNvPr>
          <p:cNvSpPr>
            <a:spLocks noGrp="1"/>
          </p:cNvSpPr>
          <p:nvPr/>
        </p:nvSpPr>
        <p:spPr>
          <a:xfrm>
            <a:off x="876300" y="3971925"/>
            <a:ext cx="10439400" cy="457200"/>
          </a:xfrm>
          <a:prstGeom prst="rect">
            <a:avLst/>
          </a:prstGeom>
          <a:solidFill>
            <a:srgbClr val="FBF9F5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D0EA40-CB88-4618-9C0D-1E1A89D1788D}"/>
              </a:ext>
            </a:extLst>
          </p:cNvPr>
          <p:cNvSpPr>
            <a:spLocks noGrp="1"/>
          </p:cNvSpPr>
          <p:nvPr/>
        </p:nvSpPr>
        <p:spPr>
          <a:xfrm>
            <a:off x="990600" y="40671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Elastic Net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0BD141-5908-4A93-AE35-45D6D6BC8971}"/>
              </a:ext>
            </a:extLst>
          </p:cNvPr>
          <p:cNvSpPr>
            <a:spLocks noGrp="1"/>
          </p:cNvSpPr>
          <p:nvPr/>
        </p:nvSpPr>
        <p:spPr>
          <a:xfrm>
            <a:off x="4470400" y="40671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ridge/lasso blend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C4BED9-E822-44DA-B6D6-C34057D12AF1}"/>
              </a:ext>
            </a:extLst>
          </p:cNvPr>
          <p:cNvSpPr>
            <a:spLocks noGrp="1"/>
          </p:cNvSpPr>
          <p:nvPr/>
        </p:nvSpPr>
        <p:spPr>
          <a:xfrm>
            <a:off x="7950200" y="40671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normalized, PCA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D7DCDA-CABE-4A7C-9964-0756BB2C8AAF}"/>
              </a:ext>
            </a:extLst>
          </p:cNvPr>
          <p:cNvSpPr>
            <a:spLocks noGrp="1"/>
          </p:cNvSpPr>
          <p:nvPr/>
        </p:nvSpPr>
        <p:spPr>
          <a:xfrm>
            <a:off x="876300" y="4429125"/>
            <a:ext cx="10439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F29E20-5917-4EC3-BD44-8CCAE6BDF874}"/>
              </a:ext>
            </a:extLst>
          </p:cNvPr>
          <p:cNvSpPr>
            <a:spLocks noGrp="1"/>
          </p:cNvSpPr>
          <p:nvPr/>
        </p:nvSpPr>
        <p:spPr>
          <a:xfrm>
            <a:off x="990600" y="45243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28C008-1681-4FBB-9E1E-0D3B5F2E1C6C}"/>
              </a:ext>
            </a:extLst>
          </p:cNvPr>
          <p:cNvSpPr>
            <a:spLocks noGrp="1"/>
          </p:cNvSpPr>
          <p:nvPr/>
        </p:nvSpPr>
        <p:spPr>
          <a:xfrm>
            <a:off x="4470400" y="45243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nonlinear interactions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6606B4-4D14-4045-9886-9776231EF3B2}"/>
              </a:ext>
            </a:extLst>
          </p:cNvPr>
          <p:cNvSpPr>
            <a:spLocks noGrp="1"/>
          </p:cNvSpPr>
          <p:nvPr/>
        </p:nvSpPr>
        <p:spPr>
          <a:xfrm>
            <a:off x="7950200" y="4524375"/>
            <a:ext cx="325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minimal preprocessing + tuning</a:t>
            </a:r>
          </a:p>
        </p:txBody>
      </p:sp>
    </p:spTree>
    <p:extLst>
      <p:ext uri="{BB962C8B-B14F-4D97-AF65-F5344CB8AC3E}">
        <p14:creationId xmlns:p14="http://schemas.microsoft.com/office/powerpoint/2010/main" val="1583840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ackground">
            <a:extLst>
              <a:ext uri="{FF2B5EF4-FFF2-40B4-BE49-F238E27FC236}">
                <a16:creationId xmlns:a16="http://schemas.microsoft.com/office/drawing/2014/main" id="{0532BB4E-EFFA-4EC0-9B6E-D0EE9CCFA0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41C51D23-C8F9-4CDC-836E-2D45FBDA6F66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8D09BD5-C996-4D2D-98DB-19AE1BDCF54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TUNING LOGIC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3514835F-ABED-4023-A052-BCCF6F95AFFE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D0DDA848-99C7-495D-ADBF-07F361CD0815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Hyperparameters are selected inside cross-validation, not on the final holdout.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512E9C4F-B17D-437D-BB99-F95889EBC31D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tuning objects preserve metrics and configuration labels for traceability.</a:t>
            </a:r>
          </a:p>
        </p:txBody>
      </p:sp>
      <p:sp>
        <p:nvSpPr>
          <p:cNvPr id="7" name="source-footer">
            <a:extLst>
              <a:ext uri="{FF2B5EF4-FFF2-40B4-BE49-F238E27FC236}">
                <a16:creationId xmlns:a16="http://schemas.microsoft.com/office/drawing/2014/main" id="{BC094F99-F994-4B4B-83E9-957ABE3DEDDE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Model Notebook Documentation.Rmd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FBD61414-8B50-4430-A4CE-D5E54F63122B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9" name="node-glmnet penalty&#10;ridge / lasso">
            <a:extLst>
              <a:ext uri="{FF2B5EF4-FFF2-40B4-BE49-F238E27FC236}">
                <a16:creationId xmlns:a16="http://schemas.microsoft.com/office/drawing/2014/main" id="{E096FEDE-3C20-442C-9908-A36D7B4FD15F}"/>
              </a:ext>
            </a:extLst>
          </p:cNvPr>
          <p:cNvSpPr>
            <a:spLocks noGrp="1"/>
          </p:cNvSpPr>
          <p:nvPr/>
        </p:nvSpPr>
        <p:spPr>
          <a:xfrm>
            <a:off x="1200150" y="2857500"/>
            <a:ext cx="1714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8F9ED1-3E66-4552-9F9C-F0703F069EB3}"/>
              </a:ext>
            </a:extLst>
          </p:cNvPr>
          <p:cNvSpPr>
            <a:spLocks noGrp="1"/>
          </p:cNvSpPr>
          <p:nvPr/>
        </p:nvSpPr>
        <p:spPr>
          <a:xfrm>
            <a:off x="1333500" y="3009900"/>
            <a:ext cx="14478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glmnet penalty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ridge / lasso</a:t>
            </a:r>
          </a:p>
        </p:txBody>
      </p:sp>
      <p:sp>
        <p:nvSpPr>
          <p:cNvPr id="11" name="node-penalty + mixture&#10;elastic net">
            <a:extLst>
              <a:ext uri="{FF2B5EF4-FFF2-40B4-BE49-F238E27FC236}">
                <a16:creationId xmlns:a16="http://schemas.microsoft.com/office/drawing/2014/main" id="{321B35CA-94CE-413D-96F8-B48C6415CA91}"/>
              </a:ext>
            </a:extLst>
          </p:cNvPr>
          <p:cNvSpPr>
            <a:spLocks noGrp="1"/>
          </p:cNvSpPr>
          <p:nvPr/>
        </p:nvSpPr>
        <p:spPr>
          <a:xfrm>
            <a:off x="3390900" y="2857500"/>
            <a:ext cx="1714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782AC1-571B-4B0E-B6BD-E704A0DC79B9}"/>
              </a:ext>
            </a:extLst>
          </p:cNvPr>
          <p:cNvSpPr>
            <a:spLocks noGrp="1"/>
          </p:cNvSpPr>
          <p:nvPr/>
        </p:nvSpPr>
        <p:spPr>
          <a:xfrm>
            <a:off x="3524250" y="3009900"/>
            <a:ext cx="14478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penalty + mixture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elastic net</a:t>
            </a:r>
          </a:p>
        </p:txBody>
      </p:sp>
      <p:sp>
        <p:nvSpPr>
          <p:cNvPr id="13" name="node-mtry + min_n&#10;random forest">
            <a:extLst>
              <a:ext uri="{FF2B5EF4-FFF2-40B4-BE49-F238E27FC236}">
                <a16:creationId xmlns:a16="http://schemas.microsoft.com/office/drawing/2014/main" id="{875A35B6-E24B-4763-BF47-6CE6923736F4}"/>
              </a:ext>
            </a:extLst>
          </p:cNvPr>
          <p:cNvSpPr>
            <a:spLocks noGrp="1"/>
          </p:cNvSpPr>
          <p:nvPr/>
        </p:nvSpPr>
        <p:spPr>
          <a:xfrm>
            <a:off x="5581650" y="2857500"/>
            <a:ext cx="1714500" cy="1047750"/>
          </a:xfrm>
          <a:prstGeom prst="rect">
            <a:avLst/>
          </a:prstGeom>
          <a:solidFill>
            <a:srgbClr val="EFE8DC"/>
          </a:solidFill>
          <a:ln w="9525">
            <a:solidFill>
              <a:srgbClr val="D95F0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76F4E6-F38D-43BF-B22A-3C808EEE5266}"/>
              </a:ext>
            </a:extLst>
          </p:cNvPr>
          <p:cNvSpPr>
            <a:spLocks noGrp="1"/>
          </p:cNvSpPr>
          <p:nvPr/>
        </p:nvSpPr>
        <p:spPr>
          <a:xfrm>
            <a:off x="5715000" y="3009900"/>
            <a:ext cx="14478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mtry + min_n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5" name="node-.config labels&#10;trace candidates">
            <a:extLst>
              <a:ext uri="{FF2B5EF4-FFF2-40B4-BE49-F238E27FC236}">
                <a16:creationId xmlns:a16="http://schemas.microsoft.com/office/drawing/2014/main" id="{4DB5CF2C-3A61-4F9E-B1DD-A9CDA92B39FA}"/>
              </a:ext>
            </a:extLst>
          </p:cNvPr>
          <p:cNvSpPr>
            <a:spLocks noGrp="1"/>
          </p:cNvSpPr>
          <p:nvPr/>
        </p:nvSpPr>
        <p:spPr>
          <a:xfrm>
            <a:off x="7772400" y="2857500"/>
            <a:ext cx="1714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0870F7-E726-41A4-811D-A8D6CCA522AB}"/>
              </a:ext>
            </a:extLst>
          </p:cNvPr>
          <p:cNvSpPr>
            <a:spLocks noGrp="1"/>
          </p:cNvSpPr>
          <p:nvPr/>
        </p:nvSpPr>
        <p:spPr>
          <a:xfrm>
            <a:off x="7905750" y="3009900"/>
            <a:ext cx="14478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.config labels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trace candidates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6DB7EB-623C-4217-8965-ED9C339849CB}"/>
              </a:ext>
            </a:extLst>
          </p:cNvPr>
          <p:cNvSpPr>
            <a:spLocks noGrp="1"/>
          </p:cNvSpPr>
          <p:nvPr/>
        </p:nvSpPr>
        <p:spPr>
          <a:xfrm>
            <a:off x="2019300" y="4629150"/>
            <a:ext cx="819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Winning RF setting in the rendered notebook: mtry = 20, min_n = 2, trees = 300.</a:t>
            </a:r>
          </a:p>
        </p:txBody>
      </p:sp>
    </p:spTree>
    <p:extLst>
      <p:ext uri="{BB962C8B-B14F-4D97-AF65-F5344CB8AC3E}">
        <p14:creationId xmlns:p14="http://schemas.microsoft.com/office/powerpoint/2010/main" val="1665238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ackground">
            <a:extLst>
              <a:ext uri="{FF2B5EF4-FFF2-40B4-BE49-F238E27FC236}">
                <a16:creationId xmlns:a16="http://schemas.microsoft.com/office/drawing/2014/main" id="{D9A2457D-54AB-428A-818F-05D4CBFDDD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CD188590-D94E-4020-B17E-B4343D044D58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B993FCE2-799C-4CA7-95B3-84829C91E7B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SELECTION RULE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0E583F52-639A-402A-9DCE-42D2DE5FC361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78FAF682-ADE5-4202-BE5D-B311E2BDBEBF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RMSE is the single primary criterion across all families.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0A4D9818-A340-410A-B9DE-D5EF83DEFB70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MAE and R^2 remain diagnostics, but they do not drive the winner switch.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A0C12A18-FA1E-4800-9AFB-70F9C5DF41E4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9" name="metric-RMSE">
            <a:extLst>
              <a:ext uri="{FF2B5EF4-FFF2-40B4-BE49-F238E27FC236}">
                <a16:creationId xmlns:a16="http://schemas.microsoft.com/office/drawing/2014/main" id="{DAFC487D-D06D-4949-947B-A0F8B02F30DA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2095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8F2B4D-7362-499A-876B-BA6A9889910E}"/>
              </a:ext>
            </a:extLst>
          </p:cNvPr>
          <p:cNvSpPr>
            <a:spLocks noGrp="1"/>
          </p:cNvSpPr>
          <p:nvPr/>
        </p:nvSpPr>
        <p:spPr>
          <a:xfrm>
            <a:off x="1600200" y="2819400"/>
            <a:ext cx="1752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95F0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95F0E"/>
                </a:solidFill>
                <a:latin typeface="Aptos Display"/>
                <a:ea typeface="Aptos Display"/>
                <a:cs typeface="Aptos Display"/>
              </a:rPr>
              <a:t>primary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996176-242F-41FF-AFEA-10405D4EBDD2}"/>
              </a:ext>
            </a:extLst>
          </p:cNvPr>
          <p:cNvSpPr>
            <a:spLocks noGrp="1"/>
          </p:cNvSpPr>
          <p:nvPr/>
        </p:nvSpPr>
        <p:spPr>
          <a:xfrm>
            <a:off x="1600200" y="321945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RMSE</a:t>
            </a:r>
          </a:p>
        </p:txBody>
      </p:sp>
      <p:sp>
        <p:nvSpPr>
          <p:cNvPr id="12" name="metric-MAE">
            <a:extLst>
              <a:ext uri="{FF2B5EF4-FFF2-40B4-BE49-F238E27FC236}">
                <a16:creationId xmlns:a16="http://schemas.microsoft.com/office/drawing/2014/main" id="{F8EBDCBC-7116-45EC-937A-994965E2046F}"/>
              </a:ext>
            </a:extLst>
          </p:cNvPr>
          <p:cNvSpPr>
            <a:spLocks noGrp="1"/>
          </p:cNvSpPr>
          <p:nvPr/>
        </p:nvSpPr>
        <p:spPr>
          <a:xfrm>
            <a:off x="5048250" y="2667000"/>
            <a:ext cx="2095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6EE959-EAE6-4BAF-A5AE-EAF19E14AAC6}"/>
              </a:ext>
            </a:extLst>
          </p:cNvPr>
          <p:cNvSpPr>
            <a:spLocks noGrp="1"/>
          </p:cNvSpPr>
          <p:nvPr/>
        </p:nvSpPr>
        <p:spPr>
          <a:xfrm>
            <a:off x="5219700" y="2819400"/>
            <a:ext cx="1752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166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166AC"/>
                </a:solidFill>
                <a:latin typeface="Aptos Display"/>
                <a:ea typeface="Aptos Display"/>
                <a:cs typeface="Aptos Display"/>
              </a:rPr>
              <a:t>diagnostic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69B221-49EE-4410-93C7-2D5842AFAA6B}"/>
              </a:ext>
            </a:extLst>
          </p:cNvPr>
          <p:cNvSpPr>
            <a:spLocks noGrp="1"/>
          </p:cNvSpPr>
          <p:nvPr/>
        </p:nvSpPr>
        <p:spPr>
          <a:xfrm>
            <a:off x="5219700" y="321945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MAE</a:t>
            </a:r>
          </a:p>
        </p:txBody>
      </p:sp>
      <p:sp>
        <p:nvSpPr>
          <p:cNvPr id="15" name="metric-R^2">
            <a:extLst>
              <a:ext uri="{FF2B5EF4-FFF2-40B4-BE49-F238E27FC236}">
                <a16:creationId xmlns:a16="http://schemas.microsoft.com/office/drawing/2014/main" id="{5B9E713E-9E38-470A-B93B-64F8B550946B}"/>
              </a:ext>
            </a:extLst>
          </p:cNvPr>
          <p:cNvSpPr>
            <a:spLocks noGrp="1"/>
          </p:cNvSpPr>
          <p:nvPr/>
        </p:nvSpPr>
        <p:spPr>
          <a:xfrm>
            <a:off x="8667750" y="2667000"/>
            <a:ext cx="2095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952EFA-AE23-4E16-A199-00038DED0417}"/>
              </a:ext>
            </a:extLst>
          </p:cNvPr>
          <p:cNvSpPr>
            <a:spLocks noGrp="1"/>
          </p:cNvSpPr>
          <p:nvPr/>
        </p:nvSpPr>
        <p:spPr>
          <a:xfrm>
            <a:off x="8839200" y="2819400"/>
            <a:ext cx="1752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rPr>
              <a:t>diagnostic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4C53C8-2537-402F-9062-84742B71CF7B}"/>
              </a:ext>
            </a:extLst>
          </p:cNvPr>
          <p:cNvSpPr>
            <a:spLocks noGrp="1"/>
          </p:cNvSpPr>
          <p:nvPr/>
        </p:nvSpPr>
        <p:spPr>
          <a:xfrm>
            <a:off x="8839200" y="321945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R^2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834CAD-CA89-43D3-9EF4-704320FF7D2F}"/>
              </a:ext>
            </a:extLst>
          </p:cNvPr>
          <p:cNvSpPr>
            <a:spLocks noGrp="1"/>
          </p:cNvSpPr>
          <p:nvPr/>
        </p:nvSpPr>
        <p:spPr>
          <a:xfrm>
            <a:off x="1905000" y="4591050"/>
            <a:ext cx="8382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Why RMSE: it is on the target scale and penalizes large misses more strongly than MAE.</a:t>
            </a:r>
          </a:p>
        </p:txBody>
      </p:sp>
    </p:spTree>
    <p:extLst>
      <p:ext uri="{BB962C8B-B14F-4D97-AF65-F5344CB8AC3E}">
        <p14:creationId xmlns:p14="http://schemas.microsoft.com/office/powerpoint/2010/main" val="1350777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ackground">
            <a:extLst>
              <a:ext uri="{FF2B5EF4-FFF2-40B4-BE49-F238E27FC236}">
                <a16:creationId xmlns:a16="http://schemas.microsoft.com/office/drawing/2014/main" id="{774BB4E3-F95E-491C-968A-5B9C3971F1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671B2D7-833F-4ADA-ABD4-833B93569462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5E7357EA-0FF2-4AAC-9690-6931C11B5BD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MODELING HANDOFF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A2DC506F-9882-4724-8A67-E2032A08F0CB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AD0D58F1-91C9-4F8E-AF8F-1C5F75A838EC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Only each family winner enters the final cross-validated ranking.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57C2C5B3-E1E6-4D0C-889E-E348C1E713C8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This keeps the comparison compact and prevents the holdout from choosing among many candidates.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2781949F-153A-4814-8209-F524383FC7CA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9" name="node-OLS winner">
            <a:extLst>
              <a:ext uri="{FF2B5EF4-FFF2-40B4-BE49-F238E27FC236}">
                <a16:creationId xmlns:a16="http://schemas.microsoft.com/office/drawing/2014/main" id="{87068D51-2480-4AE3-A0D0-90312066BD0D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1619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D16DB5-6057-4D0F-A957-1A3F52D2B23D}"/>
              </a:ext>
            </a:extLst>
          </p:cNvPr>
          <p:cNvSpPr>
            <a:spLocks noGrp="1"/>
          </p:cNvSpPr>
          <p:nvPr/>
        </p:nvSpPr>
        <p:spPr>
          <a:xfrm>
            <a:off x="990600" y="300990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OLS winner</a:t>
            </a:r>
          </a:p>
        </p:txBody>
      </p:sp>
      <p:sp>
        <p:nvSpPr>
          <p:cNvPr id="11" name="node-Ridge winner">
            <a:extLst>
              <a:ext uri="{FF2B5EF4-FFF2-40B4-BE49-F238E27FC236}">
                <a16:creationId xmlns:a16="http://schemas.microsoft.com/office/drawing/2014/main" id="{A62A5D83-44F8-4420-8DB8-EAF53993D448}"/>
              </a:ext>
            </a:extLst>
          </p:cNvPr>
          <p:cNvSpPr>
            <a:spLocks noGrp="1"/>
          </p:cNvSpPr>
          <p:nvPr/>
        </p:nvSpPr>
        <p:spPr>
          <a:xfrm>
            <a:off x="2762250" y="2857500"/>
            <a:ext cx="1619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D4CD95-24B6-47CD-AEAE-4842998635D7}"/>
              </a:ext>
            </a:extLst>
          </p:cNvPr>
          <p:cNvSpPr>
            <a:spLocks noGrp="1"/>
          </p:cNvSpPr>
          <p:nvPr/>
        </p:nvSpPr>
        <p:spPr>
          <a:xfrm>
            <a:off x="2895600" y="300990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Ridge winner</a:t>
            </a:r>
          </a:p>
        </p:txBody>
      </p:sp>
      <p:sp>
        <p:nvSpPr>
          <p:cNvPr id="13" name="node-Lasso winner">
            <a:extLst>
              <a:ext uri="{FF2B5EF4-FFF2-40B4-BE49-F238E27FC236}">
                <a16:creationId xmlns:a16="http://schemas.microsoft.com/office/drawing/2014/main" id="{30C1387C-D8B5-4373-ADEB-69E7E9115DEE}"/>
              </a:ext>
            </a:extLst>
          </p:cNvPr>
          <p:cNvSpPr>
            <a:spLocks noGrp="1"/>
          </p:cNvSpPr>
          <p:nvPr/>
        </p:nvSpPr>
        <p:spPr>
          <a:xfrm>
            <a:off x="4667250" y="2857500"/>
            <a:ext cx="1619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6CC48C-471D-4E9F-9746-4B9894B62DC9}"/>
              </a:ext>
            </a:extLst>
          </p:cNvPr>
          <p:cNvSpPr>
            <a:spLocks noGrp="1"/>
          </p:cNvSpPr>
          <p:nvPr/>
        </p:nvSpPr>
        <p:spPr>
          <a:xfrm>
            <a:off x="4800600" y="300990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Lasso winner</a:t>
            </a:r>
          </a:p>
        </p:txBody>
      </p:sp>
      <p:sp>
        <p:nvSpPr>
          <p:cNvPr id="15" name="node-Elastic Net winner">
            <a:extLst>
              <a:ext uri="{FF2B5EF4-FFF2-40B4-BE49-F238E27FC236}">
                <a16:creationId xmlns:a16="http://schemas.microsoft.com/office/drawing/2014/main" id="{B5ACAFE0-5DAC-4E4E-BA75-58D2683E4B17}"/>
              </a:ext>
            </a:extLst>
          </p:cNvPr>
          <p:cNvSpPr>
            <a:spLocks noGrp="1"/>
          </p:cNvSpPr>
          <p:nvPr/>
        </p:nvSpPr>
        <p:spPr>
          <a:xfrm>
            <a:off x="6572250" y="2857500"/>
            <a:ext cx="1619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C42F18-EC98-4C9C-AA7A-0291EB64445C}"/>
              </a:ext>
            </a:extLst>
          </p:cNvPr>
          <p:cNvSpPr>
            <a:spLocks noGrp="1"/>
          </p:cNvSpPr>
          <p:nvPr/>
        </p:nvSpPr>
        <p:spPr>
          <a:xfrm>
            <a:off x="6705600" y="3009900"/>
            <a:ext cx="1352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Elastic Net winner</a:t>
            </a:r>
          </a:p>
        </p:txBody>
      </p:sp>
      <p:sp>
        <p:nvSpPr>
          <p:cNvPr id="17" name="node-Random Forest winner">
            <a:extLst>
              <a:ext uri="{FF2B5EF4-FFF2-40B4-BE49-F238E27FC236}">
                <a16:creationId xmlns:a16="http://schemas.microsoft.com/office/drawing/2014/main" id="{784D8247-B7C8-42FB-909B-F66F50EC13DC}"/>
              </a:ext>
            </a:extLst>
          </p:cNvPr>
          <p:cNvSpPr>
            <a:spLocks noGrp="1"/>
          </p:cNvSpPr>
          <p:nvPr/>
        </p:nvSpPr>
        <p:spPr>
          <a:xfrm>
            <a:off x="8477250" y="2857500"/>
            <a:ext cx="1905000" cy="781050"/>
          </a:xfrm>
          <a:prstGeom prst="rect">
            <a:avLst/>
          </a:prstGeom>
          <a:solidFill>
            <a:srgbClr val="EFE8DC"/>
          </a:solidFill>
          <a:ln w="9525">
            <a:solidFill>
              <a:srgbClr val="D95F0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20CCF2-1718-455F-8ED3-9ED561079538}"/>
              </a:ext>
            </a:extLst>
          </p:cNvPr>
          <p:cNvSpPr>
            <a:spLocks noGrp="1"/>
          </p:cNvSpPr>
          <p:nvPr/>
        </p:nvSpPr>
        <p:spPr>
          <a:xfrm>
            <a:off x="8610600" y="3009900"/>
            <a:ext cx="1638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Random Forest winner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F4EB66-7952-47BC-8061-5338386B86CA}"/>
              </a:ext>
            </a:extLst>
          </p:cNvPr>
          <p:cNvSpPr>
            <a:spLocks noGrp="1"/>
          </p:cNvSpPr>
          <p:nvPr/>
        </p:nvSpPr>
        <p:spPr>
          <a:xfrm>
            <a:off x="1409700" y="4362450"/>
            <a:ext cx="933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0">
                <a:solidFill>
                  <a:srgbClr val="16232E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16232E"/>
                </a:solidFill>
                <a:latin typeface="Aptos Mono"/>
                <a:ea typeface="Aptos Mono"/>
                <a:cs typeface="Aptos Mono"/>
              </a:rPr>
              <a:t>family_cv_leaderboard -&gt; best_model_name -&gt; best_model_workflow -&gt; blind-test scoring</a:t>
            </a:r>
          </a:p>
        </p:txBody>
      </p:sp>
    </p:spTree>
    <p:extLst>
      <p:ext uri="{BB962C8B-B14F-4D97-AF65-F5344CB8AC3E}">
        <p14:creationId xmlns:p14="http://schemas.microsoft.com/office/powerpoint/2010/main" val="134121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background">
            <a:extLst>
              <a:ext uri="{FF2B5EF4-FFF2-40B4-BE49-F238E27FC236}">
                <a16:creationId xmlns:a16="http://schemas.microsoft.com/office/drawing/2014/main" id="{62159095-A2A0-4B0C-880C-B2496208D2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3CB5C027-FFB4-4AD2-BD38-D1AE59F48224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1A9D9649-B228-4995-8E0D-B24DDE4CB3D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FINAL RANKING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A72E5BE1-37D4-4090-AE73-D1695784E301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282EE30A-450C-4094-AA9B-9550DC8BF53B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Random Forest wins the CV-based family comparison.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3BEFF9A5-B3D1-4FA0-8A45-B3EB662BF418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selected family beats the linear and regularized alternatives on RMSE.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FF74DE38-AB8F-455C-862A-BD313A537736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7C0B28-A422-4CB1-AF34-17EE88C10585}"/>
              </a:ext>
            </a:extLst>
          </p:cNvPr>
          <p:cNvSpPr>
            <a:spLocks noGrp="1"/>
          </p:cNvSpPr>
          <p:nvPr/>
        </p:nvSpPr>
        <p:spPr>
          <a:xfrm>
            <a:off x="1123950" y="24384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DF7646-4F12-4742-B4E3-579EA368D352}"/>
              </a:ext>
            </a:extLst>
          </p:cNvPr>
          <p:cNvSpPr>
            <a:spLocks noGrp="1"/>
          </p:cNvSpPr>
          <p:nvPr/>
        </p:nvSpPr>
        <p:spPr>
          <a:xfrm>
            <a:off x="1123950" y="265747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minimal_preprocessing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ED2642-764A-4761-A909-F95FCAA3D00C}"/>
              </a:ext>
            </a:extLst>
          </p:cNvPr>
          <p:cNvSpPr>
            <a:spLocks noGrp="1"/>
          </p:cNvSpPr>
          <p:nvPr/>
        </p:nvSpPr>
        <p:spPr>
          <a:xfrm>
            <a:off x="2819400" y="2505075"/>
            <a:ext cx="7334250" cy="152400"/>
          </a:xfrm>
          <a:prstGeom prst="rect">
            <a:avLst/>
          </a:prstGeom>
          <a:solidFill>
            <a:srgbClr val="E5DE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BAC0DB-CB79-4F90-98F2-EDFA78BC70EA}"/>
              </a:ext>
            </a:extLst>
          </p:cNvPr>
          <p:cNvSpPr>
            <a:spLocks noGrp="1"/>
          </p:cNvSpPr>
          <p:nvPr/>
        </p:nvSpPr>
        <p:spPr>
          <a:xfrm>
            <a:off x="2819400" y="2505075"/>
            <a:ext cx="6615794" cy="1524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9006C5-060F-4F94-951A-0078878351B9}"/>
              </a:ext>
            </a:extLst>
          </p:cNvPr>
          <p:cNvSpPr>
            <a:spLocks noGrp="1"/>
          </p:cNvSpPr>
          <p:nvPr/>
        </p:nvSpPr>
        <p:spPr>
          <a:xfrm>
            <a:off x="10363200" y="245745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2.616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5E8B6C-4DD5-4631-8BB3-02EB5430D5FB}"/>
              </a:ext>
            </a:extLst>
          </p:cNvPr>
          <p:cNvSpPr>
            <a:spLocks noGrp="1"/>
          </p:cNvSpPr>
          <p:nvPr/>
        </p:nvSpPr>
        <p:spPr>
          <a:xfrm>
            <a:off x="1123950" y="29908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Lasso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23B2CB-0A7A-484B-BF89-48FF22C73B46}"/>
              </a:ext>
            </a:extLst>
          </p:cNvPr>
          <p:cNvSpPr>
            <a:spLocks noGrp="1"/>
          </p:cNvSpPr>
          <p:nvPr/>
        </p:nvSpPr>
        <p:spPr>
          <a:xfrm>
            <a:off x="1123950" y="320992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normalized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707257-D3C0-4ADF-B285-13BE78D6FDCC}"/>
              </a:ext>
            </a:extLst>
          </p:cNvPr>
          <p:cNvSpPr>
            <a:spLocks noGrp="1"/>
          </p:cNvSpPr>
          <p:nvPr/>
        </p:nvSpPr>
        <p:spPr>
          <a:xfrm>
            <a:off x="2819400" y="3057525"/>
            <a:ext cx="7334250" cy="152400"/>
          </a:xfrm>
          <a:prstGeom prst="rect">
            <a:avLst/>
          </a:prstGeom>
          <a:solidFill>
            <a:srgbClr val="E5DE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48BB71-EF45-41B7-99EF-BE5F2B0CDD42}"/>
              </a:ext>
            </a:extLst>
          </p:cNvPr>
          <p:cNvSpPr>
            <a:spLocks noGrp="1"/>
          </p:cNvSpPr>
          <p:nvPr/>
        </p:nvSpPr>
        <p:spPr>
          <a:xfrm>
            <a:off x="2819400" y="3057525"/>
            <a:ext cx="7184442" cy="152400"/>
          </a:xfrm>
          <a:prstGeom prst="rect">
            <a:avLst/>
          </a:prstGeom>
          <a:solidFill>
            <a:srgbClr val="2166A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B09809-67C7-491E-A318-CF692BDED3DE}"/>
              </a:ext>
            </a:extLst>
          </p:cNvPr>
          <p:cNvSpPr>
            <a:spLocks noGrp="1"/>
          </p:cNvSpPr>
          <p:nvPr/>
        </p:nvSpPr>
        <p:spPr>
          <a:xfrm>
            <a:off x="10363200" y="30099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C3E50"/>
                </a:solidFill>
                <a:latin typeface="Aptos"/>
                <a:ea typeface="Aptos"/>
                <a:cs typeface="Aptos"/>
              </a:rPr>
              <a:t>2.841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DECADE-DAC8-4F76-861D-6F9864AA82B5}"/>
              </a:ext>
            </a:extLst>
          </p:cNvPr>
          <p:cNvSpPr>
            <a:spLocks noGrp="1"/>
          </p:cNvSpPr>
          <p:nvPr/>
        </p:nvSpPr>
        <p:spPr>
          <a:xfrm>
            <a:off x="1123950" y="35433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Elastic Net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477150-81F3-4017-A911-37EF611C8E15}"/>
              </a:ext>
            </a:extLst>
          </p:cNvPr>
          <p:cNvSpPr>
            <a:spLocks noGrp="1"/>
          </p:cNvSpPr>
          <p:nvPr/>
        </p:nvSpPr>
        <p:spPr>
          <a:xfrm>
            <a:off x="1123950" y="376237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normalized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53139E-C750-4C69-B58C-C4A087B4809E}"/>
              </a:ext>
            </a:extLst>
          </p:cNvPr>
          <p:cNvSpPr>
            <a:spLocks noGrp="1"/>
          </p:cNvSpPr>
          <p:nvPr/>
        </p:nvSpPr>
        <p:spPr>
          <a:xfrm>
            <a:off x="2819400" y="3609975"/>
            <a:ext cx="7334250" cy="152400"/>
          </a:xfrm>
          <a:prstGeom prst="rect">
            <a:avLst/>
          </a:prstGeom>
          <a:solidFill>
            <a:srgbClr val="E5DE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20C711-7595-4936-B6D2-0207B3207FEC}"/>
              </a:ext>
            </a:extLst>
          </p:cNvPr>
          <p:cNvSpPr>
            <a:spLocks noGrp="1"/>
          </p:cNvSpPr>
          <p:nvPr/>
        </p:nvSpPr>
        <p:spPr>
          <a:xfrm>
            <a:off x="2819400" y="3609975"/>
            <a:ext cx="7188346" cy="152400"/>
          </a:xfrm>
          <a:prstGeom prst="rect">
            <a:avLst/>
          </a:prstGeom>
          <a:solidFill>
            <a:srgbClr val="2C3E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8B285B-5BFF-49E9-9337-C38B51B5CD75}"/>
              </a:ext>
            </a:extLst>
          </p:cNvPr>
          <p:cNvSpPr>
            <a:spLocks noGrp="1"/>
          </p:cNvSpPr>
          <p:nvPr/>
        </p:nvSpPr>
        <p:spPr>
          <a:xfrm>
            <a:off x="10363200" y="356235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C3E50"/>
                </a:solidFill>
                <a:latin typeface="Aptos"/>
                <a:ea typeface="Aptos"/>
                <a:cs typeface="Aptos"/>
              </a:rPr>
              <a:t>2.842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A23B55-C57F-44D7-8817-A58261886721}"/>
              </a:ext>
            </a:extLst>
          </p:cNvPr>
          <p:cNvSpPr>
            <a:spLocks noGrp="1"/>
          </p:cNvSpPr>
          <p:nvPr/>
        </p:nvSpPr>
        <p:spPr>
          <a:xfrm>
            <a:off x="1123950" y="40957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OLS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F6F152-4589-41A2-9BAE-17C142E21A8F}"/>
              </a:ext>
            </a:extLst>
          </p:cNvPr>
          <p:cNvSpPr>
            <a:spLocks noGrp="1"/>
          </p:cNvSpPr>
          <p:nvPr/>
        </p:nvSpPr>
        <p:spPr>
          <a:xfrm>
            <a:off x="1123950" y="431482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raw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54AD2F-3EA6-4D85-8D9E-8EBBC4EE199D}"/>
              </a:ext>
            </a:extLst>
          </p:cNvPr>
          <p:cNvSpPr>
            <a:spLocks noGrp="1"/>
          </p:cNvSpPr>
          <p:nvPr/>
        </p:nvSpPr>
        <p:spPr>
          <a:xfrm>
            <a:off x="2819400" y="4162425"/>
            <a:ext cx="7334250" cy="152400"/>
          </a:xfrm>
          <a:prstGeom prst="rect">
            <a:avLst/>
          </a:prstGeom>
          <a:solidFill>
            <a:srgbClr val="E5DE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7D0E54-1BEE-494A-9ABE-9064449BD6AA}"/>
              </a:ext>
            </a:extLst>
          </p:cNvPr>
          <p:cNvSpPr>
            <a:spLocks noGrp="1"/>
          </p:cNvSpPr>
          <p:nvPr/>
        </p:nvSpPr>
        <p:spPr>
          <a:xfrm>
            <a:off x="2819400" y="4162425"/>
            <a:ext cx="7195266" cy="152400"/>
          </a:xfrm>
          <a:prstGeom prst="rect">
            <a:avLst/>
          </a:prstGeom>
          <a:solidFill>
            <a:srgbClr val="2C3E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7F7DD0-B8B3-4D47-B4CE-78D6F8CB2CB6}"/>
              </a:ext>
            </a:extLst>
          </p:cNvPr>
          <p:cNvSpPr>
            <a:spLocks noGrp="1"/>
          </p:cNvSpPr>
          <p:nvPr/>
        </p:nvSpPr>
        <p:spPr>
          <a:xfrm>
            <a:off x="10363200" y="41148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C3E50"/>
                </a:solidFill>
                <a:latin typeface="Aptos"/>
                <a:ea typeface="Aptos"/>
                <a:cs typeface="Aptos"/>
              </a:rPr>
              <a:t>2.845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B1ED46-019E-4270-AE52-5E1C5D879701}"/>
              </a:ext>
            </a:extLst>
          </p:cNvPr>
          <p:cNvSpPr>
            <a:spLocks noGrp="1"/>
          </p:cNvSpPr>
          <p:nvPr/>
        </p:nvSpPr>
        <p:spPr>
          <a:xfrm>
            <a:off x="1123950" y="46482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Ridge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F9195AF-BB55-4AD4-AD41-49190DA4AA7D}"/>
              </a:ext>
            </a:extLst>
          </p:cNvPr>
          <p:cNvSpPr>
            <a:spLocks noGrp="1"/>
          </p:cNvSpPr>
          <p:nvPr/>
        </p:nvSpPr>
        <p:spPr>
          <a:xfrm>
            <a:off x="1123950" y="486727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normalized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2300ECF-139A-4200-B4D2-E836145606D2}"/>
              </a:ext>
            </a:extLst>
          </p:cNvPr>
          <p:cNvSpPr>
            <a:spLocks noGrp="1"/>
          </p:cNvSpPr>
          <p:nvPr/>
        </p:nvSpPr>
        <p:spPr>
          <a:xfrm>
            <a:off x="2819400" y="4714875"/>
            <a:ext cx="7334250" cy="152400"/>
          </a:xfrm>
          <a:prstGeom prst="rect">
            <a:avLst/>
          </a:prstGeom>
          <a:solidFill>
            <a:srgbClr val="E5DE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3D6E274-0E9F-47F0-8F9D-F056BF4B32CB}"/>
              </a:ext>
            </a:extLst>
          </p:cNvPr>
          <p:cNvSpPr>
            <a:spLocks noGrp="1"/>
          </p:cNvSpPr>
          <p:nvPr/>
        </p:nvSpPr>
        <p:spPr>
          <a:xfrm>
            <a:off x="2819400" y="4714875"/>
            <a:ext cx="7204917" cy="152400"/>
          </a:xfrm>
          <a:prstGeom prst="rect">
            <a:avLst/>
          </a:prstGeom>
          <a:solidFill>
            <a:srgbClr val="2C3E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2635D1-E200-4F01-A620-D9E140E1F102}"/>
              </a:ext>
            </a:extLst>
          </p:cNvPr>
          <p:cNvSpPr>
            <a:spLocks noGrp="1"/>
          </p:cNvSpPr>
          <p:nvPr/>
        </p:nvSpPr>
        <p:spPr>
          <a:xfrm>
            <a:off x="10363200" y="466725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C3E50"/>
                </a:solidFill>
                <a:latin typeface="Aptos"/>
                <a:ea typeface="Aptos"/>
                <a:cs typeface="Aptos"/>
              </a:rPr>
              <a:t>2.849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8F88F1-01B0-4591-8E5E-FA4D974DE1C3}"/>
              </a:ext>
            </a:extLst>
          </p:cNvPr>
          <p:cNvSpPr>
            <a:spLocks noGrp="1"/>
          </p:cNvSpPr>
          <p:nvPr/>
        </p:nvSpPr>
        <p:spPr>
          <a:xfrm>
            <a:off x="2038350" y="5562600"/>
            <a:ext cx="809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Lower RMSE is better. Values are cross-validated on the training split.</a:t>
            </a:r>
          </a:p>
        </p:txBody>
      </p:sp>
    </p:spTree>
    <p:extLst>
      <p:ext uri="{BB962C8B-B14F-4D97-AF65-F5344CB8AC3E}">
        <p14:creationId xmlns:p14="http://schemas.microsoft.com/office/powerpoint/2010/main" val="1816569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ackground">
            <a:extLst>
              <a:ext uri="{FF2B5EF4-FFF2-40B4-BE49-F238E27FC236}">
                <a16:creationId xmlns:a16="http://schemas.microsoft.com/office/drawing/2014/main" id="{F7F00B3C-D4C6-4EF8-B511-CE77F0B3CB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2DFEE905-387F-4C49-82A9-84801CFB004F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2376F7CF-BF00-4EF4-B35B-2A0E059A836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WINNING WORKFLOW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08BBDC6A-30C1-4895-8B70-83631F7A3AAF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50F2906D-F74E-4C53-904F-8EBA56261F79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The nonlinear ensemble is the strongest predictive choice for this dataset.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3AE9AC21-69E8-4156-ABDF-DA8F989D56B9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likely explanation is interaction or nonlinear structure that linear families do not fully capture.</a:t>
            </a:r>
          </a:p>
        </p:txBody>
      </p:sp>
      <p:sp>
        <p:nvSpPr>
          <p:cNvPr id="7" name="source-footer">
            <a:extLst>
              <a:ext uri="{FF2B5EF4-FFF2-40B4-BE49-F238E27FC236}">
                <a16:creationId xmlns:a16="http://schemas.microsoft.com/office/drawing/2014/main" id="{99DB1937-B0AE-4F23-9473-834937D18F74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Model Notebook Documentation.Rmd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46944CEB-9B69-4853-AAFA-33AECD7AEB20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D767F5-8CB2-4A63-8B6C-C9BC841E66F9}"/>
              </a:ext>
            </a:extLst>
          </p:cNvPr>
          <p:cNvSpPr>
            <a:spLocks noGrp="1"/>
          </p:cNvSpPr>
          <p:nvPr/>
        </p:nvSpPr>
        <p:spPr>
          <a:xfrm>
            <a:off x="800100" y="2247900"/>
            <a:ext cx="400050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EB0183-8508-4E97-BEAD-B00C8E3F2959}"/>
              </a:ext>
            </a:extLst>
          </p:cNvPr>
          <p:cNvSpPr>
            <a:spLocks noGrp="1"/>
          </p:cNvSpPr>
          <p:nvPr/>
        </p:nvSpPr>
        <p:spPr>
          <a:xfrm>
            <a:off x="1123950" y="2571750"/>
            <a:ext cx="3333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D95F0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95F0E"/>
                </a:solidFill>
                <a:latin typeface="Aptos Display"/>
                <a:ea typeface="Aptos Display"/>
                <a:cs typeface="Aptos Display"/>
              </a:rPr>
              <a:t>Random Forest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A135A8-A34A-4C95-8859-F1F7BB30E048}"/>
              </a:ext>
            </a:extLst>
          </p:cNvPr>
          <p:cNvSpPr>
            <a:spLocks noGrp="1"/>
          </p:cNvSpPr>
          <p:nvPr/>
        </p:nvSpPr>
        <p:spPr>
          <a:xfrm>
            <a:off x="1162050" y="3333750"/>
            <a:ext cx="66675" cy="66675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5D3DFF-E331-4347-A646-4F88E517132E}"/>
              </a:ext>
            </a:extLst>
          </p:cNvPr>
          <p:cNvSpPr>
            <a:spLocks noGrp="1"/>
          </p:cNvSpPr>
          <p:nvPr/>
        </p:nvSpPr>
        <p:spPr>
          <a:xfrm>
            <a:off x="1352550" y="3257550"/>
            <a:ext cx="2952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Variant: minimal_preprocessing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0CEA6A-268B-4B81-BE55-A230DF1E11DB}"/>
              </a:ext>
            </a:extLst>
          </p:cNvPr>
          <p:cNvSpPr>
            <a:spLocks noGrp="1"/>
          </p:cNvSpPr>
          <p:nvPr/>
        </p:nvSpPr>
        <p:spPr>
          <a:xfrm>
            <a:off x="1162050" y="3657600"/>
            <a:ext cx="66675" cy="66675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7700B0-6DB2-4B5D-B842-A24790C0478C}"/>
              </a:ext>
            </a:extLst>
          </p:cNvPr>
          <p:cNvSpPr>
            <a:spLocks noGrp="1"/>
          </p:cNvSpPr>
          <p:nvPr/>
        </p:nvSpPr>
        <p:spPr>
          <a:xfrm>
            <a:off x="1352550" y="3581400"/>
            <a:ext cx="2952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Engine: ranger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B0ED20-0607-4CA5-9FED-A36F898C70DE}"/>
              </a:ext>
            </a:extLst>
          </p:cNvPr>
          <p:cNvSpPr>
            <a:spLocks noGrp="1"/>
          </p:cNvSpPr>
          <p:nvPr/>
        </p:nvSpPr>
        <p:spPr>
          <a:xfrm>
            <a:off x="1162050" y="3981450"/>
            <a:ext cx="66675" cy="66675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8C9E31-2B69-4CE8-95BD-EE47226E9A12}"/>
              </a:ext>
            </a:extLst>
          </p:cNvPr>
          <p:cNvSpPr>
            <a:spLocks noGrp="1"/>
          </p:cNvSpPr>
          <p:nvPr/>
        </p:nvSpPr>
        <p:spPr>
          <a:xfrm>
            <a:off x="1352550" y="3905250"/>
            <a:ext cx="2952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Trees: 300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73BB4F-F14E-467C-A770-17831E962246}"/>
              </a:ext>
            </a:extLst>
          </p:cNvPr>
          <p:cNvSpPr>
            <a:spLocks noGrp="1"/>
          </p:cNvSpPr>
          <p:nvPr/>
        </p:nvSpPr>
        <p:spPr>
          <a:xfrm>
            <a:off x="1162050" y="4305300"/>
            <a:ext cx="66675" cy="66675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0460A6-963D-42DB-BC6E-2DE2A5C415D8}"/>
              </a:ext>
            </a:extLst>
          </p:cNvPr>
          <p:cNvSpPr>
            <a:spLocks noGrp="1"/>
          </p:cNvSpPr>
          <p:nvPr/>
        </p:nvSpPr>
        <p:spPr>
          <a:xfrm>
            <a:off x="1352550" y="4229100"/>
            <a:ext cx="2952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Best mtry: 20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350280-7591-4950-8720-5B3E436F3B69}"/>
              </a:ext>
            </a:extLst>
          </p:cNvPr>
          <p:cNvSpPr>
            <a:spLocks noGrp="1"/>
          </p:cNvSpPr>
          <p:nvPr/>
        </p:nvSpPr>
        <p:spPr>
          <a:xfrm>
            <a:off x="1162050" y="4629150"/>
            <a:ext cx="66675" cy="66675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07DD9F-E21F-4BE2-B623-DEC1AF78304C}"/>
              </a:ext>
            </a:extLst>
          </p:cNvPr>
          <p:cNvSpPr>
            <a:spLocks noGrp="1"/>
          </p:cNvSpPr>
          <p:nvPr/>
        </p:nvSpPr>
        <p:spPr>
          <a:xfrm>
            <a:off x="1352550" y="4552950"/>
            <a:ext cx="2952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Best min_n: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0462F4-F874-4464-A04E-0D9404C0A460}"/>
              </a:ext>
            </a:extLst>
          </p:cNvPr>
          <p:cNvSpPr>
            <a:spLocks noGrp="1"/>
          </p:cNvSpPr>
          <p:nvPr/>
        </p:nvSpPr>
        <p:spPr>
          <a:xfrm>
            <a:off x="5619750" y="2114550"/>
            <a:ext cx="5105400" cy="3009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95950" y="2226469"/>
            <a:ext cx="4953000" cy="278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099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ackground">
            <a:extLst>
              <a:ext uri="{FF2B5EF4-FFF2-40B4-BE49-F238E27FC236}">
                <a16:creationId xmlns:a16="http://schemas.microsoft.com/office/drawing/2014/main" id="{4E47CAE0-7C8D-46DB-BD6B-7302239C0B32}"/>
              </a:ext>
            </a:extLst>
          </p:cNvPr>
          <p:cNvSpPr>
            <a:spLocks noGrp="1"/>
          </p:cNvSpPr>
          <p:nvPr/>
        </p:nvSpPr>
        <p:spPr>
          <a:xfrm>
            <a:off x="129309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6F64376F-CDD3-472A-BB17-6A2A736B5964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0DA54D5-3C17-4D96-A623-1E471CBE1B4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HOLDOUT VALIDATION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BAFD68C0-FB5A-4C0B-B2C3-0D952DF92AC1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8448E6AD-13AC-41E3-8564-10E4A4E212D8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The selected workflow validates cleanly on untouched assessment rows.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CE49E89-6517-436B-9E59-52D6DE7FE7B3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holdout confirms generalization after the CV winner is already fixed.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9BA83FB9-5C09-447E-8078-F2DD5504EB9A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9" name="metric-RMSE">
            <a:extLst>
              <a:ext uri="{FF2B5EF4-FFF2-40B4-BE49-F238E27FC236}">
                <a16:creationId xmlns:a16="http://schemas.microsoft.com/office/drawing/2014/main" id="{976F9B15-6D37-40D1-98D1-043C7EE60E04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1619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4849B6-709F-4BA7-AC19-1EB439262F11}"/>
              </a:ext>
            </a:extLst>
          </p:cNvPr>
          <p:cNvSpPr>
            <a:spLocks noGrp="1"/>
          </p:cNvSpPr>
          <p:nvPr/>
        </p:nvSpPr>
        <p:spPr>
          <a:xfrm>
            <a:off x="1009650" y="2438400"/>
            <a:ext cx="1276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95F0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dirty="0">
                <a:solidFill>
                  <a:srgbClr val="D95F0E"/>
                </a:solidFill>
                <a:latin typeface="Aptos Display"/>
                <a:ea typeface="Aptos Display"/>
                <a:cs typeface="Aptos Display"/>
              </a:rPr>
              <a:t>2.523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70CB77-FD4A-4BD5-86E7-E52DCCC7CF5D}"/>
              </a:ext>
            </a:extLst>
          </p:cNvPr>
          <p:cNvSpPr>
            <a:spLocks noGrp="1"/>
          </p:cNvSpPr>
          <p:nvPr/>
        </p:nvSpPr>
        <p:spPr>
          <a:xfrm>
            <a:off x="1009650" y="283845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RMSE</a:t>
            </a:r>
          </a:p>
        </p:txBody>
      </p:sp>
      <p:sp>
        <p:nvSpPr>
          <p:cNvPr id="12" name="metric-MAE">
            <a:extLst>
              <a:ext uri="{FF2B5EF4-FFF2-40B4-BE49-F238E27FC236}">
                <a16:creationId xmlns:a16="http://schemas.microsoft.com/office/drawing/2014/main" id="{C5A1624F-2C8C-49EC-A85E-C3B64BCE7043}"/>
              </a:ext>
            </a:extLst>
          </p:cNvPr>
          <p:cNvSpPr>
            <a:spLocks noGrp="1"/>
          </p:cNvSpPr>
          <p:nvPr/>
        </p:nvSpPr>
        <p:spPr>
          <a:xfrm>
            <a:off x="838200" y="3390900"/>
            <a:ext cx="1619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577391-2334-4048-94A2-8DD2780A44E7}"/>
              </a:ext>
            </a:extLst>
          </p:cNvPr>
          <p:cNvSpPr>
            <a:spLocks noGrp="1"/>
          </p:cNvSpPr>
          <p:nvPr/>
        </p:nvSpPr>
        <p:spPr>
          <a:xfrm>
            <a:off x="1009650" y="3543300"/>
            <a:ext cx="1276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rPr>
              <a:t>1.975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CBA7A0-B36E-450B-B9E9-59347C623CD3}"/>
              </a:ext>
            </a:extLst>
          </p:cNvPr>
          <p:cNvSpPr>
            <a:spLocks noGrp="1"/>
          </p:cNvSpPr>
          <p:nvPr/>
        </p:nvSpPr>
        <p:spPr>
          <a:xfrm>
            <a:off x="1009650" y="394335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MAE</a:t>
            </a:r>
          </a:p>
        </p:txBody>
      </p:sp>
      <p:sp>
        <p:nvSpPr>
          <p:cNvPr id="15" name="metric-R^2">
            <a:extLst>
              <a:ext uri="{FF2B5EF4-FFF2-40B4-BE49-F238E27FC236}">
                <a16:creationId xmlns:a16="http://schemas.microsoft.com/office/drawing/2014/main" id="{02AFFEA7-312E-465E-8B62-A1DD04D8F224}"/>
              </a:ext>
            </a:extLst>
          </p:cNvPr>
          <p:cNvSpPr>
            <a:spLocks noGrp="1"/>
          </p:cNvSpPr>
          <p:nvPr/>
        </p:nvSpPr>
        <p:spPr>
          <a:xfrm>
            <a:off x="838200" y="4495800"/>
            <a:ext cx="1619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00B37C-C8B3-4EEE-8DFD-50FB2FB89034}"/>
              </a:ext>
            </a:extLst>
          </p:cNvPr>
          <p:cNvSpPr>
            <a:spLocks noGrp="1"/>
          </p:cNvSpPr>
          <p:nvPr/>
        </p:nvSpPr>
        <p:spPr>
          <a:xfrm>
            <a:off x="1009650" y="4648200"/>
            <a:ext cx="1276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166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166AC"/>
                </a:solidFill>
                <a:latin typeface="Aptos Display"/>
                <a:ea typeface="Aptos Display"/>
                <a:cs typeface="Aptos Display"/>
              </a:rPr>
              <a:t>0.745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451A42-D9B7-4686-A030-7432B56A3DFD}"/>
              </a:ext>
            </a:extLst>
          </p:cNvPr>
          <p:cNvSpPr>
            <a:spLocks noGrp="1"/>
          </p:cNvSpPr>
          <p:nvPr/>
        </p:nvSpPr>
        <p:spPr>
          <a:xfrm>
            <a:off x="1009650" y="504825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R^2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E09C6C-C66D-467E-9473-978BB690AD13}"/>
              </a:ext>
            </a:extLst>
          </p:cNvPr>
          <p:cNvSpPr>
            <a:spLocks noGrp="1"/>
          </p:cNvSpPr>
          <p:nvPr/>
        </p:nvSpPr>
        <p:spPr>
          <a:xfrm>
            <a:off x="3067050" y="2114550"/>
            <a:ext cx="3867150" cy="2305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43250" y="2338388"/>
            <a:ext cx="3714750" cy="185737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73F82C7-D9D3-4125-8E49-E31FBF84EC03}"/>
              </a:ext>
            </a:extLst>
          </p:cNvPr>
          <p:cNvSpPr>
            <a:spLocks noGrp="1"/>
          </p:cNvSpPr>
          <p:nvPr/>
        </p:nvSpPr>
        <p:spPr>
          <a:xfrm>
            <a:off x="7467600" y="2114550"/>
            <a:ext cx="3867150" cy="2305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43800" y="2338388"/>
            <a:ext cx="3714750" cy="185737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CB0405E-5D0B-4DEB-B643-37F9E7EDC218}"/>
              </a:ext>
            </a:extLst>
          </p:cNvPr>
          <p:cNvSpPr>
            <a:spLocks noGrp="1"/>
          </p:cNvSpPr>
          <p:nvPr/>
        </p:nvSpPr>
        <p:spPr>
          <a:xfrm>
            <a:off x="3429000" y="5143500"/>
            <a:ext cx="7429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Absolute error summary: mean 1.975, median 1.670, max 8.362.</a:t>
            </a:r>
          </a:p>
        </p:txBody>
      </p:sp>
    </p:spTree>
    <p:extLst>
      <p:ext uri="{BB962C8B-B14F-4D97-AF65-F5344CB8AC3E}">
        <p14:creationId xmlns:p14="http://schemas.microsoft.com/office/powerpoint/2010/main" val="1613093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F499CDD-37A2-478D-9FD0-43917867E1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3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DE4E5A-B285-432D-BA71-93F221FDFBA9}"/>
              </a:ext>
            </a:extLst>
          </p:cNvPr>
          <p:cNvSpPr>
            <a:spLocks noGrp="1"/>
          </p:cNvSpPr>
          <p:nvPr/>
        </p:nvSpPr>
        <p:spPr>
          <a:xfrm>
            <a:off x="647700" y="8191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5B7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B78F"/>
                </a:solidFill>
                <a:latin typeface="Aptos"/>
                <a:ea typeface="Aptos"/>
                <a:cs typeface="Aptos"/>
              </a:rPr>
              <a:t>OLS / MCO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50DA9E-906C-4C31-9C1A-159B77466E4F}"/>
              </a:ext>
            </a:extLst>
          </p:cNvPr>
          <p:cNvSpPr>
            <a:spLocks noGrp="1"/>
          </p:cNvSpPr>
          <p:nvPr/>
        </p:nvSpPr>
        <p:spPr>
          <a:xfrm>
            <a:off x="647700" y="1200150"/>
            <a:ext cx="4572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7F7B26-7190-499B-94EF-B0E1FA72636F}"/>
              </a:ext>
            </a:extLst>
          </p:cNvPr>
          <p:cNvSpPr>
            <a:spLocks noGrp="1"/>
          </p:cNvSpPr>
          <p:nvPr/>
        </p:nvSpPr>
        <p:spPr>
          <a:xfrm>
            <a:off x="647700" y="1619250"/>
            <a:ext cx="79057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OLS did not win, but it remains the diagnostic reference.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F9BA10-A956-493F-ABDF-656559A9476F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6858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7DEE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DEE8"/>
                </a:solidFill>
                <a:latin typeface="Aptos"/>
                <a:ea typeface="Aptos"/>
                <a:cs typeface="Aptos"/>
              </a:rPr>
              <a:t>Section 5.2 validates the classical regression principles that can be inspected from this dataset.</a:t>
            </a:r>
          </a:p>
        </p:txBody>
      </p:sp>
      <p:sp>
        <p:nvSpPr>
          <p:cNvPr id="6" name="source-footer">
            <a:extLst>
              <a:ext uri="{FF2B5EF4-FFF2-40B4-BE49-F238E27FC236}">
                <a16:creationId xmlns:a16="http://schemas.microsoft.com/office/drawing/2014/main" id="{59725E16-F2A0-470E-A616-37B35476F1E1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D7DEE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DEE8"/>
                </a:solidFill>
                <a:latin typeface="Aptos"/>
                <a:ea typeface="Aptos"/>
                <a:cs typeface="Aptos"/>
              </a:rPr>
              <a:t>Source: Model Notebook Documentation.Rmd</a:t>
            </a:r>
          </a:p>
        </p:txBody>
      </p:sp>
      <p:sp>
        <p:nvSpPr>
          <p:cNvPr id="7" name="page-marker">
            <a:extLst>
              <a:ext uri="{FF2B5EF4-FFF2-40B4-BE49-F238E27FC236}">
                <a16:creationId xmlns:a16="http://schemas.microsoft.com/office/drawing/2014/main" id="{DD939EBA-1151-48CA-A3A2-EA667A0759C2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D7DE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EE8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37049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ackground">
            <a:extLst>
              <a:ext uri="{FF2B5EF4-FFF2-40B4-BE49-F238E27FC236}">
                <a16:creationId xmlns:a16="http://schemas.microsoft.com/office/drawing/2014/main" id="{262154B9-9703-482D-BA90-DB18406F63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0F310D10-FA91-4B5B-A52F-B0FADC139DF4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371882F-1DA6-43ED-A7E0-F403A775C66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PRELIMINARY OLS PRINCIPLES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3BFBC84E-8BE5-4824-833F-80663E6B47FC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81E352B7-F0E7-4FDD-A17B-2C1731CF7B2E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Before fitting, the data support several minimum conditions for OLS.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FA63DA21-BEE9-4213-BD2D-49CDD28F0E2F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Other principles require residuals or domain assumptions and are evaluated later.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1F7C9F40-7F45-41FA-8FF0-A84590CB870D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34413D-DA98-4D13-BBDE-5BBDEAD86D01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8858250" cy="361950"/>
          </a:xfrm>
          <a:prstGeom prst="rect">
            <a:avLst/>
          </a:prstGeom>
          <a:solidFill>
            <a:srgbClr val="1623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5397BE-48B8-4C0C-B515-B03287FA7E2B}"/>
              </a:ext>
            </a:extLst>
          </p:cNvPr>
          <p:cNvSpPr>
            <a:spLocks noGrp="1"/>
          </p:cNvSpPr>
          <p:nvPr/>
        </p:nvSpPr>
        <p:spPr>
          <a:xfrm>
            <a:off x="1257300" y="228600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Principle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535256-6633-4A2F-8728-F86C771D8133}"/>
              </a:ext>
            </a:extLst>
          </p:cNvPr>
          <p:cNvSpPr>
            <a:spLocks noGrp="1"/>
          </p:cNvSpPr>
          <p:nvPr/>
        </p:nvSpPr>
        <p:spPr>
          <a:xfrm>
            <a:off x="3733800" y="228600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E59808-4153-465F-9EE1-295D4EA59BB8}"/>
              </a:ext>
            </a:extLst>
          </p:cNvPr>
          <p:cNvSpPr>
            <a:spLocks noGrp="1"/>
          </p:cNvSpPr>
          <p:nvPr/>
        </p:nvSpPr>
        <p:spPr>
          <a:xfrm>
            <a:off x="5162550" y="2286000"/>
            <a:ext cx="472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1C345F-F002-44D4-A52E-244C1DE62565}"/>
              </a:ext>
            </a:extLst>
          </p:cNvPr>
          <p:cNvSpPr>
            <a:spLocks noGrp="1"/>
          </p:cNvSpPr>
          <p:nvPr/>
        </p:nvSpPr>
        <p:spPr>
          <a:xfrm>
            <a:off x="1143000" y="2552700"/>
            <a:ext cx="8858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7BA3F1-8187-4754-9538-2958766AB218}"/>
              </a:ext>
            </a:extLst>
          </p:cNvPr>
          <p:cNvSpPr>
            <a:spLocks noGrp="1"/>
          </p:cNvSpPr>
          <p:nvPr/>
        </p:nvSpPr>
        <p:spPr>
          <a:xfrm>
            <a:off x="1257300" y="264795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Variation in y and 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2BD0D4-6AED-4AD1-A3E8-D378720BA176}"/>
              </a:ext>
            </a:extLst>
          </p:cNvPr>
          <p:cNvSpPr>
            <a:spLocks noGrp="1"/>
          </p:cNvSpPr>
          <p:nvPr/>
        </p:nvSpPr>
        <p:spPr>
          <a:xfrm>
            <a:off x="3733800" y="264795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0DDF98-C2F2-4F9D-A6B2-16349569AF65}"/>
              </a:ext>
            </a:extLst>
          </p:cNvPr>
          <p:cNvSpPr>
            <a:spLocks noGrp="1"/>
          </p:cNvSpPr>
          <p:nvPr/>
        </p:nvSpPr>
        <p:spPr>
          <a:xfrm>
            <a:off x="5162550" y="2647950"/>
            <a:ext cx="472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Target and predictors vary in sample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6740A7-E2E0-4A6B-B9B0-148E105CE9CB}"/>
              </a:ext>
            </a:extLst>
          </p:cNvPr>
          <p:cNvSpPr>
            <a:spLocks noGrp="1"/>
          </p:cNvSpPr>
          <p:nvPr/>
        </p:nvSpPr>
        <p:spPr>
          <a:xfrm>
            <a:off x="1143000" y="2914650"/>
            <a:ext cx="8858250" cy="361950"/>
          </a:xfrm>
          <a:prstGeom prst="rect">
            <a:avLst/>
          </a:prstGeom>
          <a:solidFill>
            <a:srgbClr val="FBF9F5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1475E7-E804-4537-BD77-0FF4F782FF4F}"/>
              </a:ext>
            </a:extLst>
          </p:cNvPr>
          <p:cNvSpPr>
            <a:spLocks noGrp="1"/>
          </p:cNvSpPr>
          <p:nvPr/>
        </p:nvSpPr>
        <p:spPr>
          <a:xfrm>
            <a:off x="1257300" y="300990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Numeric measurement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9CA753-C839-4D4A-A46E-DEA29F0979B1}"/>
              </a:ext>
            </a:extLst>
          </p:cNvPr>
          <p:cNvSpPr>
            <a:spLocks noGrp="1"/>
          </p:cNvSpPr>
          <p:nvPr/>
        </p:nvSpPr>
        <p:spPr>
          <a:xfrm>
            <a:off x="3733800" y="300990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C3B2C8-8856-4DED-A847-A93CCD4A921E}"/>
              </a:ext>
            </a:extLst>
          </p:cNvPr>
          <p:cNvSpPr>
            <a:spLocks noGrp="1"/>
          </p:cNvSpPr>
          <p:nvPr/>
        </p:nvSpPr>
        <p:spPr>
          <a:xfrm>
            <a:off x="5162550" y="3009900"/>
            <a:ext cx="472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All columns recovered as numeric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D229F2-7367-4D46-BBF2-53083B33E11F}"/>
              </a:ext>
            </a:extLst>
          </p:cNvPr>
          <p:cNvSpPr>
            <a:spLocks noGrp="1"/>
          </p:cNvSpPr>
          <p:nvPr/>
        </p:nvSpPr>
        <p:spPr>
          <a:xfrm>
            <a:off x="1143000" y="3276600"/>
            <a:ext cx="8858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FEC318-E1DC-45FD-BE4C-440EE0B29B2C}"/>
              </a:ext>
            </a:extLst>
          </p:cNvPr>
          <p:cNvSpPr>
            <a:spLocks noGrp="1"/>
          </p:cNvSpPr>
          <p:nvPr/>
        </p:nvSpPr>
        <p:spPr>
          <a:xfrm>
            <a:off x="1257300" y="337185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No perfect collinearity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9D760C-9A19-4162-8D07-801A708EC3ED}"/>
              </a:ext>
            </a:extLst>
          </p:cNvPr>
          <p:cNvSpPr>
            <a:spLocks noGrp="1"/>
          </p:cNvSpPr>
          <p:nvPr/>
        </p:nvSpPr>
        <p:spPr>
          <a:xfrm>
            <a:off x="3733800" y="337185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B38972-FEC9-43F2-B06E-FD96188E18FE}"/>
              </a:ext>
            </a:extLst>
          </p:cNvPr>
          <p:cNvSpPr>
            <a:spLocks noGrp="1"/>
          </p:cNvSpPr>
          <p:nvPr/>
        </p:nvSpPr>
        <p:spPr>
          <a:xfrm>
            <a:off x="5162550" y="3371850"/>
            <a:ext cx="472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Correlation/VIF checks show no exact duplication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00052C-1898-41DD-A41D-5534FE12FD2A}"/>
              </a:ext>
            </a:extLst>
          </p:cNvPr>
          <p:cNvSpPr>
            <a:spLocks noGrp="1"/>
          </p:cNvSpPr>
          <p:nvPr/>
        </p:nvSpPr>
        <p:spPr>
          <a:xfrm>
            <a:off x="1143000" y="3638550"/>
            <a:ext cx="8858250" cy="361950"/>
          </a:xfrm>
          <a:prstGeom prst="rect">
            <a:avLst/>
          </a:prstGeom>
          <a:solidFill>
            <a:srgbClr val="FBF9F5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874B87-0CBB-499F-80E0-CC13A1BB8A12}"/>
              </a:ext>
            </a:extLst>
          </p:cNvPr>
          <p:cNvSpPr>
            <a:spLocks noGrp="1"/>
          </p:cNvSpPr>
          <p:nvPr/>
        </p:nvSpPr>
        <p:spPr>
          <a:xfrm>
            <a:off x="1257300" y="373380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Potential linear signal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5A60E5-2B81-4C2E-9824-7FF4EDF03819}"/>
              </a:ext>
            </a:extLst>
          </p:cNvPr>
          <p:cNvSpPr>
            <a:spLocks noGrp="1"/>
          </p:cNvSpPr>
          <p:nvPr/>
        </p:nvSpPr>
        <p:spPr>
          <a:xfrm>
            <a:off x="3733800" y="373380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E926A0-D846-45DF-941E-EDFA4C4C88F8}"/>
              </a:ext>
            </a:extLst>
          </p:cNvPr>
          <p:cNvSpPr>
            <a:spLocks noGrp="1"/>
          </p:cNvSpPr>
          <p:nvPr/>
        </p:nvSpPr>
        <p:spPr>
          <a:xfrm>
            <a:off x="5162550" y="3733800"/>
            <a:ext cx="472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Top predictors show visible marginal signal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5E0B7B-7520-49FA-847F-A68EE22DE52F}"/>
              </a:ext>
            </a:extLst>
          </p:cNvPr>
          <p:cNvSpPr>
            <a:spLocks noGrp="1"/>
          </p:cNvSpPr>
          <p:nvPr/>
        </p:nvSpPr>
        <p:spPr>
          <a:xfrm>
            <a:off x="1143000" y="4000500"/>
            <a:ext cx="8858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01119D-AB32-4BB9-B3EF-8A86BFFDDFB9}"/>
              </a:ext>
            </a:extLst>
          </p:cNvPr>
          <p:cNvSpPr>
            <a:spLocks noGrp="1"/>
          </p:cNvSpPr>
          <p:nvPr/>
        </p:nvSpPr>
        <p:spPr>
          <a:xfrm>
            <a:off x="1257300" y="409575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Homoscedasticity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D578F8B-7F7E-4E43-B411-6731A6E314F6}"/>
              </a:ext>
            </a:extLst>
          </p:cNvPr>
          <p:cNvSpPr>
            <a:spLocks noGrp="1"/>
          </p:cNvSpPr>
          <p:nvPr/>
        </p:nvSpPr>
        <p:spPr>
          <a:xfrm>
            <a:off x="3733800" y="409575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166A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166AC"/>
                </a:solidFill>
                <a:latin typeface="Aptos"/>
                <a:ea typeface="Aptos"/>
                <a:cs typeface="Aptos"/>
              </a:rPr>
              <a:t>Checked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58A3A4-0E86-4522-A6B9-24551D73A16E}"/>
              </a:ext>
            </a:extLst>
          </p:cNvPr>
          <p:cNvSpPr>
            <a:spLocks noGrp="1"/>
          </p:cNvSpPr>
          <p:nvPr/>
        </p:nvSpPr>
        <p:spPr>
          <a:xfrm>
            <a:off x="5162550" y="4095750"/>
            <a:ext cx="472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Scale-location and residual plots inspect spread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F61CF9-D574-467F-8BD9-0D4A8C3C7D25}"/>
              </a:ext>
            </a:extLst>
          </p:cNvPr>
          <p:cNvSpPr>
            <a:spLocks noGrp="1"/>
          </p:cNvSpPr>
          <p:nvPr/>
        </p:nvSpPr>
        <p:spPr>
          <a:xfrm>
            <a:off x="1143000" y="4362450"/>
            <a:ext cx="8858250" cy="361950"/>
          </a:xfrm>
          <a:prstGeom prst="rect">
            <a:avLst/>
          </a:prstGeom>
          <a:solidFill>
            <a:srgbClr val="FBF9F5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5D82269-909B-4C7B-8823-A05B9F478605}"/>
              </a:ext>
            </a:extLst>
          </p:cNvPr>
          <p:cNvSpPr>
            <a:spLocks noGrp="1"/>
          </p:cNvSpPr>
          <p:nvPr/>
        </p:nvSpPr>
        <p:spPr>
          <a:xfrm>
            <a:off x="1257300" y="445770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16232E"/>
                </a:solidFill>
                <a:latin typeface="Aptos"/>
                <a:ea typeface="Aptos"/>
                <a:cs typeface="Aptos"/>
              </a:rPr>
              <a:t>Residual normality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63A36C-7665-4257-9775-77D8A583916E}"/>
              </a:ext>
            </a:extLst>
          </p:cNvPr>
          <p:cNvSpPr>
            <a:spLocks noGrp="1"/>
          </p:cNvSpPr>
          <p:nvPr/>
        </p:nvSpPr>
        <p:spPr>
          <a:xfrm>
            <a:off x="3733800" y="445770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166A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166AC"/>
                </a:solidFill>
                <a:latin typeface="Aptos"/>
                <a:ea typeface="Aptos"/>
                <a:cs typeface="Aptos"/>
              </a:rPr>
              <a:t>Checked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126F03-FBD6-475C-8EE1-B778DAFFA7CD}"/>
              </a:ext>
            </a:extLst>
          </p:cNvPr>
          <p:cNvSpPr>
            <a:spLocks noGrp="1"/>
          </p:cNvSpPr>
          <p:nvPr/>
        </p:nvSpPr>
        <p:spPr>
          <a:xfrm>
            <a:off x="5162550" y="4457700"/>
            <a:ext cx="472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Q-Q plot used as diagnostic, not selection rule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20415CF-91BA-4020-ABA9-78B5617294A2}"/>
              </a:ext>
            </a:extLst>
          </p:cNvPr>
          <p:cNvSpPr>
            <a:spLocks noGrp="1"/>
          </p:cNvSpPr>
          <p:nvPr/>
        </p:nvSpPr>
        <p:spPr>
          <a:xfrm>
            <a:off x="1143000" y="4724400"/>
            <a:ext cx="8858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F43F32-455D-4D70-8B0F-8F33BCC96080}"/>
              </a:ext>
            </a:extLst>
          </p:cNvPr>
          <p:cNvSpPr>
            <a:spLocks noGrp="1"/>
          </p:cNvSpPr>
          <p:nvPr/>
        </p:nvSpPr>
        <p:spPr>
          <a:xfrm>
            <a:off x="1257300" y="481965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Exogeneity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5ED8F5-0145-4E98-A55A-DA3661BC39DC}"/>
              </a:ext>
            </a:extLst>
          </p:cNvPr>
          <p:cNvSpPr>
            <a:spLocks noGrp="1"/>
          </p:cNvSpPr>
          <p:nvPr/>
        </p:nvSpPr>
        <p:spPr>
          <a:xfrm>
            <a:off x="3733800" y="481965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Assumption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AD25AC-AD09-4477-BEFF-A9A14FE88334}"/>
              </a:ext>
            </a:extLst>
          </p:cNvPr>
          <p:cNvSpPr>
            <a:spLocks noGrp="1"/>
          </p:cNvSpPr>
          <p:nvPr/>
        </p:nvSpPr>
        <p:spPr>
          <a:xfrm>
            <a:off x="5162550" y="4819650"/>
            <a:ext cx="472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Cannot be proven from descriptive data alone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2714A8-574E-422B-AE5E-8FBCA83E5784}"/>
              </a:ext>
            </a:extLst>
          </p:cNvPr>
          <p:cNvSpPr>
            <a:spLocks noGrp="1"/>
          </p:cNvSpPr>
          <p:nvPr/>
        </p:nvSpPr>
        <p:spPr>
          <a:xfrm>
            <a:off x="1143000" y="5086350"/>
            <a:ext cx="8858250" cy="361950"/>
          </a:xfrm>
          <a:prstGeom prst="rect">
            <a:avLst/>
          </a:prstGeom>
          <a:solidFill>
            <a:srgbClr val="FBF9F5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920B43F-CA42-4BA8-80C4-04C43174852C}"/>
              </a:ext>
            </a:extLst>
          </p:cNvPr>
          <p:cNvSpPr>
            <a:spLocks noGrp="1"/>
          </p:cNvSpPr>
          <p:nvPr/>
        </p:nvSpPr>
        <p:spPr>
          <a:xfrm>
            <a:off x="1257300" y="518160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Error independence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1CD7341-F7EC-4666-B147-B91C14EDC28F}"/>
              </a:ext>
            </a:extLst>
          </p:cNvPr>
          <p:cNvSpPr>
            <a:spLocks noGrp="1"/>
          </p:cNvSpPr>
          <p:nvPr/>
        </p:nvSpPr>
        <p:spPr>
          <a:xfrm>
            <a:off x="3733800" y="518160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Assumption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AC78133-72B7-464A-B3DA-97F69BD61082}"/>
              </a:ext>
            </a:extLst>
          </p:cNvPr>
          <p:cNvSpPr>
            <a:spLocks noGrp="1"/>
          </p:cNvSpPr>
          <p:nvPr/>
        </p:nvSpPr>
        <p:spPr>
          <a:xfrm>
            <a:off x="5162550" y="5181600"/>
            <a:ext cx="472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Requires stronger data-generating-process knowledge</a:t>
            </a:r>
          </a:p>
        </p:txBody>
      </p:sp>
    </p:spTree>
    <p:extLst>
      <p:ext uri="{BB962C8B-B14F-4D97-AF65-F5344CB8AC3E}">
        <p14:creationId xmlns:p14="http://schemas.microsoft.com/office/powerpoint/2010/main" val="987211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ackground">
            <a:extLst>
              <a:ext uri="{FF2B5EF4-FFF2-40B4-BE49-F238E27FC236}">
                <a16:creationId xmlns:a16="http://schemas.microsoft.com/office/drawing/2014/main" id="{FE729B02-6F2B-4F4A-A9CE-22EEB25CA3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5C9D501A-BB7C-4C88-BCD5-37E97C6BB310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E6ABCAC-64EA-491B-B5A7-17EB4317FA6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POST-FIT DIAGNOSTICS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7D5F0FA6-C2B5-4BAC-921B-1CDB738D2F2C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63556CFA-3AE7-4E91-B17D-13A4750DBCB8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Residual plots give the OLS assumptions their model-based check.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0020064B-50E0-42D1-A8E6-53D1528F7A45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These diagnostics explain the linear baseline; they do not override the CV winner.</a:t>
            </a:r>
          </a:p>
        </p:txBody>
      </p:sp>
      <p:sp>
        <p:nvSpPr>
          <p:cNvPr id="7" name="source-footer">
            <a:extLst>
              <a:ext uri="{FF2B5EF4-FFF2-40B4-BE49-F238E27FC236}">
                <a16:creationId xmlns:a16="http://schemas.microsoft.com/office/drawing/2014/main" id="{4F62C250-0F2A-4751-ADA0-12A2559CFA17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Model Notebook Documentation.Rmd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858EA9C0-D56E-4F29-AB1D-00E966A96343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0CDCD0-E352-4582-9CE0-D1995BCBC05D}"/>
              </a:ext>
            </a:extLst>
          </p:cNvPr>
          <p:cNvSpPr>
            <a:spLocks noGrp="1"/>
          </p:cNvSpPr>
          <p:nvPr/>
        </p:nvSpPr>
        <p:spPr>
          <a:xfrm>
            <a:off x="647700" y="2057400"/>
            <a:ext cx="2533650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2252663"/>
            <a:ext cx="2381250" cy="11906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F991619-F45C-4304-B54B-10417FEA093E}"/>
              </a:ext>
            </a:extLst>
          </p:cNvPr>
          <p:cNvSpPr>
            <a:spLocks noGrp="1"/>
          </p:cNvSpPr>
          <p:nvPr/>
        </p:nvSpPr>
        <p:spPr>
          <a:xfrm>
            <a:off x="3505200" y="2057400"/>
            <a:ext cx="2533650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581400" y="2252663"/>
            <a:ext cx="2381250" cy="119062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8C6AF57-BA75-4B7A-8040-A2970735092A}"/>
              </a:ext>
            </a:extLst>
          </p:cNvPr>
          <p:cNvSpPr>
            <a:spLocks noGrp="1"/>
          </p:cNvSpPr>
          <p:nvPr/>
        </p:nvSpPr>
        <p:spPr>
          <a:xfrm>
            <a:off x="6362700" y="2057400"/>
            <a:ext cx="2533650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38900" y="2252663"/>
            <a:ext cx="2381250" cy="11906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075BB73-6F2F-4385-A511-0C11C6D091FB}"/>
              </a:ext>
            </a:extLst>
          </p:cNvPr>
          <p:cNvSpPr>
            <a:spLocks noGrp="1"/>
          </p:cNvSpPr>
          <p:nvPr/>
        </p:nvSpPr>
        <p:spPr>
          <a:xfrm>
            <a:off x="9220200" y="2057400"/>
            <a:ext cx="2533650" cy="1581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296400" y="2252663"/>
            <a:ext cx="2381250" cy="119062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51803DA-EBC0-4FA7-88B6-067FEF7BA185}"/>
              </a:ext>
            </a:extLst>
          </p:cNvPr>
          <p:cNvSpPr>
            <a:spLocks noGrp="1"/>
          </p:cNvSpPr>
          <p:nvPr/>
        </p:nvSpPr>
        <p:spPr>
          <a:xfrm>
            <a:off x="1162050" y="4591050"/>
            <a:ext cx="9886950" cy="342900"/>
          </a:xfrm>
          <a:prstGeom prst="rect">
            <a:avLst/>
          </a:prstGeom>
          <a:solidFill>
            <a:srgbClr val="16232E"/>
          </a:solidFill>
          <a:ln w="9525">
            <a:solidFill>
              <a:srgbClr val="16232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76890F-5504-41A2-8BA1-9F4F510BB8ED}"/>
              </a:ext>
            </a:extLst>
          </p:cNvPr>
          <p:cNvSpPr>
            <a:spLocks noGrp="1"/>
          </p:cNvSpPr>
          <p:nvPr/>
        </p:nvSpPr>
        <p:spPr>
          <a:xfrm>
            <a:off x="1276350" y="4686300"/>
            <a:ext cx="47148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Diagnostic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8FE8B5-34B7-4282-8088-EE27D3730B0E}"/>
              </a:ext>
            </a:extLst>
          </p:cNvPr>
          <p:cNvSpPr>
            <a:spLocks noGrp="1"/>
          </p:cNvSpPr>
          <p:nvPr/>
        </p:nvSpPr>
        <p:spPr>
          <a:xfrm>
            <a:off x="6219825" y="4686300"/>
            <a:ext cx="47148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CE867E-8921-4820-878F-F94A57E6F38C}"/>
              </a:ext>
            </a:extLst>
          </p:cNvPr>
          <p:cNvSpPr>
            <a:spLocks noGrp="1"/>
          </p:cNvSpPr>
          <p:nvPr/>
        </p:nvSpPr>
        <p:spPr>
          <a:xfrm>
            <a:off x="1162050" y="4933950"/>
            <a:ext cx="98869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F5D81C-3A23-4E23-9B5B-020A6B8DF550}"/>
              </a:ext>
            </a:extLst>
          </p:cNvPr>
          <p:cNvSpPr>
            <a:spLocks noGrp="1"/>
          </p:cNvSpPr>
          <p:nvPr/>
        </p:nvSpPr>
        <p:spPr>
          <a:xfrm>
            <a:off x="1276350" y="5029200"/>
            <a:ext cx="47148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Predicted vs actual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C1B599-9F96-4E10-B5C9-32A7008415DC}"/>
              </a:ext>
            </a:extLst>
          </p:cNvPr>
          <p:cNvSpPr>
            <a:spLocks noGrp="1"/>
          </p:cNvSpPr>
          <p:nvPr/>
        </p:nvSpPr>
        <p:spPr>
          <a:xfrm>
            <a:off x="6219825" y="5029200"/>
            <a:ext cx="47148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Checks in-sample alignment for the linear benchmark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BF8DEC-E4A4-499F-BC7E-6768595D3298}"/>
              </a:ext>
            </a:extLst>
          </p:cNvPr>
          <p:cNvSpPr>
            <a:spLocks noGrp="1"/>
          </p:cNvSpPr>
          <p:nvPr/>
        </p:nvSpPr>
        <p:spPr>
          <a:xfrm>
            <a:off x="1162050" y="5276850"/>
            <a:ext cx="9886950" cy="342900"/>
          </a:xfrm>
          <a:prstGeom prst="rect">
            <a:avLst/>
          </a:prstGeom>
          <a:solidFill>
            <a:srgbClr val="FBF9F5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5AC728-1FCC-451A-B317-0DDE01ED1F36}"/>
              </a:ext>
            </a:extLst>
          </p:cNvPr>
          <p:cNvSpPr>
            <a:spLocks noGrp="1"/>
          </p:cNvSpPr>
          <p:nvPr/>
        </p:nvSpPr>
        <p:spPr>
          <a:xfrm>
            <a:off x="1276350" y="5372100"/>
            <a:ext cx="47148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Residuals vs fitted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F9DA76-CD28-43D0-89D9-72FA4721211D}"/>
              </a:ext>
            </a:extLst>
          </p:cNvPr>
          <p:cNvSpPr>
            <a:spLocks noGrp="1"/>
          </p:cNvSpPr>
          <p:nvPr/>
        </p:nvSpPr>
        <p:spPr>
          <a:xfrm>
            <a:off x="6219825" y="5372100"/>
            <a:ext cx="47148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Looks for nonlinearity or changing variance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CF452F-69BF-4F7C-8F32-F586D1982251}"/>
              </a:ext>
            </a:extLst>
          </p:cNvPr>
          <p:cNvSpPr>
            <a:spLocks noGrp="1"/>
          </p:cNvSpPr>
          <p:nvPr/>
        </p:nvSpPr>
        <p:spPr>
          <a:xfrm>
            <a:off x="1162050" y="5619750"/>
            <a:ext cx="98869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BAEDB3-C1E2-48A0-9542-7830946A42F8}"/>
              </a:ext>
            </a:extLst>
          </p:cNvPr>
          <p:cNvSpPr>
            <a:spLocks noGrp="1"/>
          </p:cNvSpPr>
          <p:nvPr/>
        </p:nvSpPr>
        <p:spPr>
          <a:xfrm>
            <a:off x="1276350" y="5715000"/>
            <a:ext cx="47148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Normal Q-Q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0C84CF-AC40-4C5D-AD9E-BC9CBD19A372}"/>
              </a:ext>
            </a:extLst>
          </p:cNvPr>
          <p:cNvSpPr>
            <a:spLocks noGrp="1"/>
          </p:cNvSpPr>
          <p:nvPr/>
        </p:nvSpPr>
        <p:spPr>
          <a:xfrm>
            <a:off x="6219825" y="5715000"/>
            <a:ext cx="47148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2C3E50"/>
                </a:solidFill>
                <a:latin typeface="Aptos"/>
                <a:ea typeface="Aptos"/>
                <a:cs typeface="Aptos"/>
              </a:rPr>
              <a:t>Checks residual normality departures</a:t>
            </a:r>
            <a:r>
              <a:rPr lang="en-US" sz="975" b="0" dirty="0">
                <a:solidFill>
                  <a:srgbClr val="2C3E50"/>
                </a:solidFill>
                <a:latin typeface="Aptos"/>
                <a:ea typeface="Aptos"/>
                <a:cs typeface="Aptos"/>
              </a:rPr>
              <a:t> (</a:t>
            </a:r>
            <a:r>
              <a:rPr lang="en-US" sz="1000" dirty="0">
                <a:solidFill>
                  <a:srgbClr val="16232E"/>
                </a:solidFill>
                <a:latin typeface="Aptos"/>
                <a:ea typeface="Aptos"/>
                <a:cs typeface="Aptos"/>
              </a:rPr>
              <a:t>Residual normality</a:t>
            </a:r>
            <a:r>
              <a:rPr lang="en-US" sz="975" dirty="0">
                <a:solidFill>
                  <a:srgbClr val="2C3E50"/>
                </a:solidFill>
                <a:latin typeface="Aptos"/>
                <a:ea typeface="Aptos"/>
                <a:cs typeface="Aptos"/>
              </a:rPr>
              <a:t>)</a:t>
            </a:r>
            <a:endParaRPr lang="en-US" sz="1000" dirty="0">
              <a:solidFill>
                <a:srgbClr val="1623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3283C9-F772-42D1-8E0C-05E303822BBD}"/>
              </a:ext>
            </a:extLst>
          </p:cNvPr>
          <p:cNvSpPr>
            <a:spLocks noGrp="1"/>
          </p:cNvSpPr>
          <p:nvPr/>
        </p:nvSpPr>
        <p:spPr>
          <a:xfrm>
            <a:off x="1162050" y="5962650"/>
            <a:ext cx="9886950" cy="342900"/>
          </a:xfrm>
          <a:prstGeom prst="rect">
            <a:avLst/>
          </a:prstGeom>
          <a:solidFill>
            <a:srgbClr val="FBF9F5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288D94-002A-406A-B7CF-63A37FF4BDDC}"/>
              </a:ext>
            </a:extLst>
          </p:cNvPr>
          <p:cNvSpPr>
            <a:spLocks noGrp="1"/>
          </p:cNvSpPr>
          <p:nvPr/>
        </p:nvSpPr>
        <p:spPr>
          <a:xfrm>
            <a:off x="1276350" y="6057900"/>
            <a:ext cx="47148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Scale-location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6C75A2-77EA-4577-A28D-D216D723B76A}"/>
              </a:ext>
            </a:extLst>
          </p:cNvPr>
          <p:cNvSpPr>
            <a:spLocks noGrp="1"/>
          </p:cNvSpPr>
          <p:nvPr/>
        </p:nvSpPr>
        <p:spPr>
          <a:xfrm>
            <a:off x="6219825" y="6057900"/>
            <a:ext cx="47148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75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2C3E50"/>
                </a:solidFill>
                <a:latin typeface="Aptos"/>
                <a:ea typeface="Aptos"/>
                <a:cs typeface="Aptos"/>
              </a:rPr>
              <a:t>Inspects residual spread across fitted values</a:t>
            </a:r>
            <a:r>
              <a:rPr lang="en-US" sz="975" dirty="0">
                <a:solidFill>
                  <a:srgbClr val="2C3E50"/>
                </a:solidFill>
                <a:latin typeface="Aptos"/>
                <a:ea typeface="Aptos"/>
                <a:cs typeface="Aptos"/>
              </a:rPr>
              <a:t> (homoscedasticity)</a:t>
            </a:r>
            <a:endParaRPr sz="975" b="0" dirty="0">
              <a:solidFill>
                <a:srgbClr val="2C3E5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14653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ackground">
            <a:extLst>
              <a:ext uri="{FF2B5EF4-FFF2-40B4-BE49-F238E27FC236}">
                <a16:creationId xmlns:a16="http://schemas.microsoft.com/office/drawing/2014/main" id="{F5407699-45E7-494F-A5C8-EB25E41474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6F1DAC3A-8286-449B-9FAC-1B804A67FCEB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5D0B23A2-FFC9-4E4D-ABE9-9E738512BDA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CAVEATS AND MULTICOLLINEARITY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81789F06-3763-41AB-B649-68F61FDC80E6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CE41E99E-7F55-4B70-B6F2-43157DE7F80E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VIF is low, but exogeneity and independence remain assumptions.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9DAB80DD-7C5D-40A1-B26F-276474AC18B0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notebook is careful about what can be validated and what must be stated as a modeling assumption.</a:t>
            </a:r>
          </a:p>
        </p:txBody>
      </p:sp>
      <p:sp>
        <p:nvSpPr>
          <p:cNvPr id="7" name="source-footer">
            <a:extLst>
              <a:ext uri="{FF2B5EF4-FFF2-40B4-BE49-F238E27FC236}">
                <a16:creationId xmlns:a16="http://schemas.microsoft.com/office/drawing/2014/main" id="{394EE178-5627-45F6-87A6-02C7F64DDE04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Model Notebook Documentation.Rmd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82D2D4DC-C468-4BF9-96E2-DFB3122206CF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9" name="metric-max VIF">
            <a:extLst>
              <a:ext uri="{FF2B5EF4-FFF2-40B4-BE49-F238E27FC236}">
                <a16:creationId xmlns:a16="http://schemas.microsoft.com/office/drawing/2014/main" id="{7E2ABF9B-60AF-4D41-BC8C-BF3EE16BF541}"/>
              </a:ext>
            </a:extLst>
          </p:cNvPr>
          <p:cNvSpPr>
            <a:spLocks noGrp="1"/>
          </p:cNvSpPr>
          <p:nvPr/>
        </p:nvSpPr>
        <p:spPr>
          <a:xfrm>
            <a:off x="1143000" y="2686050"/>
            <a:ext cx="1809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A3894B-7343-458A-8B9E-D4E3FA1AE3C7}"/>
              </a:ext>
            </a:extLst>
          </p:cNvPr>
          <p:cNvSpPr>
            <a:spLocks noGrp="1"/>
          </p:cNvSpPr>
          <p:nvPr/>
        </p:nvSpPr>
        <p:spPr>
          <a:xfrm>
            <a:off x="1314450" y="2838450"/>
            <a:ext cx="146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rPr>
              <a:t>1.040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487988-58E3-4800-AC1C-FD3CB47119E4}"/>
              </a:ext>
            </a:extLst>
          </p:cNvPr>
          <p:cNvSpPr>
            <a:spLocks noGrp="1"/>
          </p:cNvSpPr>
          <p:nvPr/>
        </p:nvSpPr>
        <p:spPr>
          <a:xfrm>
            <a:off x="1314450" y="3238500"/>
            <a:ext cx="1466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max V</a:t>
            </a:r>
            <a:r>
              <a:rPr lang="en-US" sz="975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ariance Inflation Factor</a:t>
            </a:r>
            <a:endParaRPr sz="975" b="0" dirty="0">
              <a:solidFill>
                <a:srgbClr val="66708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metric-perfect collinearity">
            <a:extLst>
              <a:ext uri="{FF2B5EF4-FFF2-40B4-BE49-F238E27FC236}">
                <a16:creationId xmlns:a16="http://schemas.microsoft.com/office/drawing/2014/main" id="{EECFF7F1-1143-447B-9BF0-5A645F72744A}"/>
              </a:ext>
            </a:extLst>
          </p:cNvPr>
          <p:cNvSpPr>
            <a:spLocks noGrp="1"/>
          </p:cNvSpPr>
          <p:nvPr/>
        </p:nvSpPr>
        <p:spPr>
          <a:xfrm>
            <a:off x="3333750" y="2686050"/>
            <a:ext cx="2095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71FD1E-BDC0-406D-B7E1-2D57CFADC8AE}"/>
              </a:ext>
            </a:extLst>
          </p:cNvPr>
          <p:cNvSpPr>
            <a:spLocks noGrp="1"/>
          </p:cNvSpPr>
          <p:nvPr/>
        </p:nvSpPr>
        <p:spPr>
          <a:xfrm>
            <a:off x="3505200" y="2838450"/>
            <a:ext cx="1752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D6A4F"/>
                </a:solidFill>
                <a:latin typeface="Aptos Display"/>
                <a:ea typeface="Aptos Display"/>
                <a:cs typeface="Aptos Display"/>
              </a:rPr>
              <a:t>none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C575EE-D5DD-4F04-A092-3FCBD4CDFC93}"/>
              </a:ext>
            </a:extLst>
          </p:cNvPr>
          <p:cNvSpPr>
            <a:spLocks noGrp="1"/>
          </p:cNvSpPr>
          <p:nvPr/>
        </p:nvSpPr>
        <p:spPr>
          <a:xfrm>
            <a:off x="3505200" y="323850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perfect collinearity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B75B74-5D95-451D-8496-427A0B54BCDC}"/>
              </a:ext>
            </a:extLst>
          </p:cNvPr>
          <p:cNvSpPr>
            <a:spLocks noGrp="1"/>
          </p:cNvSpPr>
          <p:nvPr/>
        </p:nvSpPr>
        <p:spPr>
          <a:xfrm>
            <a:off x="6191250" y="2381250"/>
            <a:ext cx="43815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3B74CC-BF9C-4DA4-8F12-3025F4C55813}"/>
              </a:ext>
            </a:extLst>
          </p:cNvPr>
          <p:cNvSpPr>
            <a:spLocks noGrp="1"/>
          </p:cNvSpPr>
          <p:nvPr/>
        </p:nvSpPr>
        <p:spPr>
          <a:xfrm>
            <a:off x="6496050" y="2667000"/>
            <a:ext cx="3810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Assumptions not fully provable here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8FA789-0FAD-4827-BE23-D1D8473B0F82}"/>
              </a:ext>
            </a:extLst>
          </p:cNvPr>
          <p:cNvSpPr>
            <a:spLocks noGrp="1"/>
          </p:cNvSpPr>
          <p:nvPr/>
        </p:nvSpPr>
        <p:spPr>
          <a:xfrm>
            <a:off x="6553200" y="3257550"/>
            <a:ext cx="66675" cy="66675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CF0EC8-7743-4B92-8B05-E39FAD1BFC5D}"/>
              </a:ext>
            </a:extLst>
          </p:cNvPr>
          <p:cNvSpPr>
            <a:spLocks noGrp="1"/>
          </p:cNvSpPr>
          <p:nvPr/>
        </p:nvSpPr>
        <p:spPr>
          <a:xfrm>
            <a:off x="6743700" y="3181350"/>
            <a:ext cx="3238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Zero conditional mean / exogeneity.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A16CE3-8280-41E4-93AE-400F1CEE5AB4}"/>
              </a:ext>
            </a:extLst>
          </p:cNvPr>
          <p:cNvSpPr>
            <a:spLocks noGrp="1"/>
          </p:cNvSpPr>
          <p:nvPr/>
        </p:nvSpPr>
        <p:spPr>
          <a:xfrm>
            <a:off x="6553200" y="3619500"/>
            <a:ext cx="66675" cy="66675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B13D10-5ACD-4191-96B1-77890DE2B73E}"/>
              </a:ext>
            </a:extLst>
          </p:cNvPr>
          <p:cNvSpPr>
            <a:spLocks noGrp="1"/>
          </p:cNvSpPr>
          <p:nvPr/>
        </p:nvSpPr>
        <p:spPr>
          <a:xfrm>
            <a:off x="6743700" y="3543300"/>
            <a:ext cx="3238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Independence of errors.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41BE48-7C4C-4C39-891D-6972F9678B25}"/>
              </a:ext>
            </a:extLst>
          </p:cNvPr>
          <p:cNvSpPr>
            <a:spLocks noGrp="1"/>
          </p:cNvSpPr>
          <p:nvPr/>
        </p:nvSpPr>
        <p:spPr>
          <a:xfrm>
            <a:off x="6553200" y="3981450"/>
            <a:ext cx="66675" cy="66675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DCC255-4BE0-43CD-B0A5-AFA0300273BB}"/>
              </a:ext>
            </a:extLst>
          </p:cNvPr>
          <p:cNvSpPr>
            <a:spLocks noGrp="1"/>
          </p:cNvSpPr>
          <p:nvPr/>
        </p:nvSpPr>
        <p:spPr>
          <a:xfrm>
            <a:off x="6743700" y="3905250"/>
            <a:ext cx="3238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True data-generating process.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19A844-50B9-40F7-B35F-45F36AED37E9}"/>
              </a:ext>
            </a:extLst>
          </p:cNvPr>
          <p:cNvSpPr>
            <a:spLocks noGrp="1"/>
          </p:cNvSpPr>
          <p:nvPr/>
        </p:nvSpPr>
        <p:spPr>
          <a:xfrm>
            <a:off x="1333500" y="502920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2C3E5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C3E50"/>
                </a:solidFill>
                <a:latin typeface="Aptos"/>
                <a:ea typeface="Aptos"/>
                <a:cs typeface="Aptos"/>
              </a:rPr>
              <a:t>Technical reading: OLS is credible as a diagnostic baseline, while Random Forest remains the deployed predictive workflow.</a:t>
            </a:r>
          </a:p>
        </p:txBody>
      </p:sp>
    </p:spTree>
    <p:extLst>
      <p:ext uri="{BB962C8B-B14F-4D97-AF65-F5344CB8AC3E}">
        <p14:creationId xmlns:p14="http://schemas.microsoft.com/office/powerpoint/2010/main" val="378652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ackground">
            <a:extLst>
              <a:ext uri="{FF2B5EF4-FFF2-40B4-BE49-F238E27FC236}">
                <a16:creationId xmlns:a16="http://schemas.microsoft.com/office/drawing/2014/main" id="{E34F0FCA-3474-424B-BE0D-41780D155D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200E9DE7-6245-407E-A430-6AD87B4962F9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D60CDB68-A10F-4D9F-A7F7-598093C0AC9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BLIND-TEST SCORING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123B4ECD-61CF-4CE6-AC04-231248B875E6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2E81CDF0-6ED6-41DC-9530-B1EF4198BC0A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The final workflow produces the required one-column submission file.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4B393F3E-748F-4B48-B2B4-B464DA8BC40A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blind test is scored only after selection and holdout validation.</a:t>
            </a:r>
          </a:p>
        </p:txBody>
      </p:sp>
      <p:sp>
        <p:nvSpPr>
          <p:cNvPr id="7" name="source-footer">
            <a:extLst>
              <a:ext uri="{FF2B5EF4-FFF2-40B4-BE49-F238E27FC236}">
                <a16:creationId xmlns:a16="http://schemas.microsoft.com/office/drawing/2014/main" id="{B374593F-21E5-4C64-A7B5-56ABEC459534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Model Notebook Documentation.Rmd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939372BC-9CCA-456B-BBB7-B673350F4FEE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9" name="node-best_model_workflow">
            <a:extLst>
              <a:ext uri="{FF2B5EF4-FFF2-40B4-BE49-F238E27FC236}">
                <a16:creationId xmlns:a16="http://schemas.microsoft.com/office/drawing/2014/main" id="{748151E5-9510-4198-AB5C-A10D0E5B315F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2190750" cy="857250"/>
          </a:xfrm>
          <a:prstGeom prst="rect">
            <a:avLst/>
          </a:prstGeom>
          <a:solidFill>
            <a:srgbClr val="EFE8DC"/>
          </a:solidFill>
          <a:ln w="9525">
            <a:solidFill>
              <a:srgbClr val="D95F0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CC841F-D37A-48B0-B74B-A08E5CBE8F80}"/>
              </a:ext>
            </a:extLst>
          </p:cNvPr>
          <p:cNvSpPr>
            <a:spLocks noGrp="1"/>
          </p:cNvSpPr>
          <p:nvPr/>
        </p:nvSpPr>
        <p:spPr>
          <a:xfrm>
            <a:off x="1238250" y="3105150"/>
            <a:ext cx="19240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 dirty="0" err="1">
                <a:solidFill>
                  <a:srgbClr val="16232E"/>
                </a:solidFill>
                <a:latin typeface="Aptos"/>
                <a:ea typeface="Aptos"/>
                <a:cs typeface="Aptos"/>
              </a:rPr>
              <a:t>best_model_workflow</a:t>
            </a:r>
            <a:endParaRPr sz="1125" b="1" dirty="0">
              <a:solidFill>
                <a:srgbClr val="1623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1FCFD1-6050-4FD8-A5A0-DDBC78DEF72E}"/>
              </a:ext>
            </a:extLst>
          </p:cNvPr>
          <p:cNvSpPr>
            <a:spLocks noGrp="1"/>
          </p:cNvSpPr>
          <p:nvPr/>
        </p:nvSpPr>
        <p:spPr>
          <a:xfrm>
            <a:off x="3429000" y="32385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2" name="node-blind_test_data_model&#10;200 rows">
            <a:extLst>
              <a:ext uri="{FF2B5EF4-FFF2-40B4-BE49-F238E27FC236}">
                <a16:creationId xmlns:a16="http://schemas.microsoft.com/office/drawing/2014/main" id="{89114E01-E949-43B3-A357-6C26BDBE3D45}"/>
              </a:ext>
            </a:extLst>
          </p:cNvPr>
          <p:cNvSpPr>
            <a:spLocks noGrp="1"/>
          </p:cNvSpPr>
          <p:nvPr/>
        </p:nvSpPr>
        <p:spPr>
          <a:xfrm>
            <a:off x="3905250" y="2857500"/>
            <a:ext cx="21907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7C47E3-F417-4B79-886E-DA961CC06B5A}"/>
              </a:ext>
            </a:extLst>
          </p:cNvPr>
          <p:cNvSpPr>
            <a:spLocks noGrp="1"/>
          </p:cNvSpPr>
          <p:nvPr/>
        </p:nvSpPr>
        <p:spPr>
          <a:xfrm>
            <a:off x="4038600" y="3009900"/>
            <a:ext cx="19240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blind_test_data_model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200 rows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57FA9B-9DD2-417D-B4CE-BE389EE2E855}"/>
              </a:ext>
            </a:extLst>
          </p:cNvPr>
          <p:cNvSpPr>
            <a:spLocks noGrp="1"/>
          </p:cNvSpPr>
          <p:nvPr/>
        </p:nvSpPr>
        <p:spPr>
          <a:xfrm>
            <a:off x="6229350" y="32385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node-predict()">
            <a:extLst>
              <a:ext uri="{FF2B5EF4-FFF2-40B4-BE49-F238E27FC236}">
                <a16:creationId xmlns:a16="http://schemas.microsoft.com/office/drawing/2014/main" id="{A5A10507-795F-4A92-9D8C-07D9C6109256}"/>
              </a:ext>
            </a:extLst>
          </p:cNvPr>
          <p:cNvSpPr>
            <a:spLocks noGrp="1"/>
          </p:cNvSpPr>
          <p:nvPr/>
        </p:nvSpPr>
        <p:spPr>
          <a:xfrm>
            <a:off x="6705600" y="2952750"/>
            <a:ext cx="16192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B9736C-A25F-4974-B6B3-470C4C1C86C0}"/>
              </a:ext>
            </a:extLst>
          </p:cNvPr>
          <p:cNvSpPr>
            <a:spLocks noGrp="1"/>
          </p:cNvSpPr>
          <p:nvPr/>
        </p:nvSpPr>
        <p:spPr>
          <a:xfrm>
            <a:off x="6838950" y="3105150"/>
            <a:ext cx="13525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predict()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992BED-2E8D-4D01-8FB6-5A4E4EC58D4B}"/>
              </a:ext>
            </a:extLst>
          </p:cNvPr>
          <p:cNvSpPr>
            <a:spLocks noGrp="1"/>
          </p:cNvSpPr>
          <p:nvPr/>
        </p:nvSpPr>
        <p:spPr>
          <a:xfrm>
            <a:off x="8458200" y="32385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node-target_pred CSV&#10;200 rows x 1 column">
            <a:extLst>
              <a:ext uri="{FF2B5EF4-FFF2-40B4-BE49-F238E27FC236}">
                <a16:creationId xmlns:a16="http://schemas.microsoft.com/office/drawing/2014/main" id="{53AFC263-277C-455D-8C78-B4769E37FB8F}"/>
              </a:ext>
            </a:extLst>
          </p:cNvPr>
          <p:cNvSpPr>
            <a:spLocks noGrp="1"/>
          </p:cNvSpPr>
          <p:nvPr/>
        </p:nvSpPr>
        <p:spPr>
          <a:xfrm>
            <a:off x="8934450" y="2857500"/>
            <a:ext cx="2190750" cy="1047750"/>
          </a:xfrm>
          <a:prstGeom prst="rect">
            <a:avLst/>
          </a:prstGeom>
          <a:solidFill>
            <a:srgbClr val="EAF3EC"/>
          </a:solidFill>
          <a:ln w="9525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0C538C-AE23-49A5-83E8-8F59AD3D10B4}"/>
              </a:ext>
            </a:extLst>
          </p:cNvPr>
          <p:cNvSpPr>
            <a:spLocks noGrp="1"/>
          </p:cNvSpPr>
          <p:nvPr/>
        </p:nvSpPr>
        <p:spPr>
          <a:xfrm>
            <a:off x="9067800" y="3009900"/>
            <a:ext cx="19240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target_pred CSV</a:t>
            </a:r>
          </a:p>
          <a:p>
            <a:pPr algn="ctr">
              <a:defRPr sz="112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200 rows x 1 column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41D269-846D-4CAF-9BDF-F28FE553AE6A}"/>
              </a:ext>
            </a:extLst>
          </p:cNvPr>
          <p:cNvSpPr>
            <a:spLocks noGrp="1"/>
          </p:cNvSpPr>
          <p:nvPr/>
        </p:nvSpPr>
        <p:spPr>
          <a:xfrm>
            <a:off x="2381250" y="4705350"/>
            <a:ext cx="7429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16232E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6232E"/>
                </a:solidFill>
                <a:latin typeface="Aptos Mono"/>
                <a:ea typeface="Aptos Mono"/>
                <a:cs typeface="Aptos Mono"/>
              </a:rPr>
              <a:t>Output path: output/blind_test_predictions.csv</a:t>
            </a:r>
          </a:p>
        </p:txBody>
      </p:sp>
    </p:spTree>
    <p:extLst>
      <p:ext uri="{BB962C8B-B14F-4D97-AF65-F5344CB8AC3E}">
        <p14:creationId xmlns:p14="http://schemas.microsoft.com/office/powerpoint/2010/main" val="2482249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ackground">
            <a:extLst>
              <a:ext uri="{FF2B5EF4-FFF2-40B4-BE49-F238E27FC236}">
                <a16:creationId xmlns:a16="http://schemas.microsoft.com/office/drawing/2014/main" id="{5CD374A9-F137-4F0D-B084-14FD3FB60C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ACEEB14-DF59-4B5F-800B-BD0A8129B123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76200" cy="762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FD9DE1A-87CF-4E5A-BBE3-5C4288D71D9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5F0E"/>
                </a:solidFill>
                <a:latin typeface="Aptos"/>
                <a:ea typeface="Aptos"/>
                <a:cs typeface="Aptos"/>
              </a:rPr>
              <a:t>DEPLOYMENT PROPOSAL</a:t>
            </a:r>
          </a:p>
        </p:txBody>
      </p:sp>
      <p:sp>
        <p:nvSpPr>
          <p:cNvPr id="4" name="kicker-rule">
            <a:extLst>
              <a:ext uri="{FF2B5EF4-FFF2-40B4-BE49-F238E27FC236}">
                <a16:creationId xmlns:a16="http://schemas.microsoft.com/office/drawing/2014/main" id="{F8B26F9F-2886-444C-9CAD-BAEC9F967B67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342900" cy="38100"/>
          </a:xfrm>
          <a:prstGeom prst="rect">
            <a:avLst/>
          </a:prstGeom>
          <a:solidFill>
            <a:srgbClr val="D95F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9DBF803E-42C6-47CF-BA75-11815512804E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232E"/>
                </a:solidFill>
                <a:latin typeface="Aptos Display"/>
                <a:ea typeface="Aptos Display"/>
                <a:cs typeface="Aptos Display"/>
              </a:rPr>
              <a:t>The analytical workflow can become a reproducible prediction service.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115FAC1B-8E21-4126-A577-4453BA80A9F4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23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Section 6.2 proposes a CI/CD path that preserves environment, traceability, and scale.</a:t>
            </a:r>
          </a:p>
        </p:txBody>
      </p:sp>
      <p:sp>
        <p:nvSpPr>
          <p:cNvPr id="8" name="page-marker">
            <a:extLst>
              <a:ext uri="{FF2B5EF4-FFF2-40B4-BE49-F238E27FC236}">
                <a16:creationId xmlns:a16="http://schemas.microsoft.com/office/drawing/2014/main" id="{B6144188-30AD-410A-B2BE-F2264B78427C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9" name="node-RStudio">
            <a:extLst>
              <a:ext uri="{FF2B5EF4-FFF2-40B4-BE49-F238E27FC236}">
                <a16:creationId xmlns:a16="http://schemas.microsoft.com/office/drawing/2014/main" id="{FE3BB1B7-CB97-4770-AED3-4B18AB078E97}"/>
              </a:ext>
            </a:extLst>
          </p:cNvPr>
          <p:cNvSpPr>
            <a:spLocks noGrp="1"/>
          </p:cNvSpPr>
          <p:nvPr/>
        </p:nvSpPr>
        <p:spPr>
          <a:xfrm>
            <a:off x="495300" y="2971800"/>
            <a:ext cx="11620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72064E-E782-49FA-B993-ACCED66AAE8F}"/>
              </a:ext>
            </a:extLst>
          </p:cNvPr>
          <p:cNvSpPr>
            <a:spLocks noGrp="1"/>
          </p:cNvSpPr>
          <p:nvPr/>
        </p:nvSpPr>
        <p:spPr>
          <a:xfrm>
            <a:off x="628650" y="3124200"/>
            <a:ext cx="895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RStudio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408802-1587-4517-9A5C-8092DCC599F2}"/>
              </a:ext>
            </a:extLst>
          </p:cNvPr>
          <p:cNvSpPr>
            <a:spLocks noGrp="1"/>
          </p:cNvSpPr>
          <p:nvPr/>
        </p:nvSpPr>
        <p:spPr>
          <a:xfrm>
            <a:off x="1714500" y="3219450"/>
            <a:ext cx="28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5F0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2" name="node-Shiny / Plumber">
            <a:extLst>
              <a:ext uri="{FF2B5EF4-FFF2-40B4-BE49-F238E27FC236}">
                <a16:creationId xmlns:a16="http://schemas.microsoft.com/office/drawing/2014/main" id="{C24CD9AE-0CA3-48EC-B528-3935B08FB6B3}"/>
              </a:ext>
            </a:extLst>
          </p:cNvPr>
          <p:cNvSpPr>
            <a:spLocks noGrp="1"/>
          </p:cNvSpPr>
          <p:nvPr/>
        </p:nvSpPr>
        <p:spPr>
          <a:xfrm>
            <a:off x="2057400" y="2971800"/>
            <a:ext cx="11620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2A3739-B785-4A81-90C1-DAAF0FF798AB}"/>
              </a:ext>
            </a:extLst>
          </p:cNvPr>
          <p:cNvSpPr>
            <a:spLocks noGrp="1"/>
          </p:cNvSpPr>
          <p:nvPr/>
        </p:nvSpPr>
        <p:spPr>
          <a:xfrm>
            <a:off x="2190750" y="3124200"/>
            <a:ext cx="895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Shiny / Plumber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C5CC4E-6AB3-4DE0-A1EA-5531DBF807EB}"/>
              </a:ext>
            </a:extLst>
          </p:cNvPr>
          <p:cNvSpPr>
            <a:spLocks noGrp="1"/>
          </p:cNvSpPr>
          <p:nvPr/>
        </p:nvSpPr>
        <p:spPr>
          <a:xfrm>
            <a:off x="3276600" y="3219450"/>
            <a:ext cx="28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5F0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node-GitHub">
            <a:extLst>
              <a:ext uri="{FF2B5EF4-FFF2-40B4-BE49-F238E27FC236}">
                <a16:creationId xmlns:a16="http://schemas.microsoft.com/office/drawing/2014/main" id="{9C5D7D70-698C-4167-A222-CDF0314AA87F}"/>
              </a:ext>
            </a:extLst>
          </p:cNvPr>
          <p:cNvSpPr>
            <a:spLocks noGrp="1"/>
          </p:cNvSpPr>
          <p:nvPr/>
        </p:nvSpPr>
        <p:spPr>
          <a:xfrm>
            <a:off x="3619500" y="2971800"/>
            <a:ext cx="11620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9B0605-3ABF-496B-9DA3-E11382023108}"/>
              </a:ext>
            </a:extLst>
          </p:cNvPr>
          <p:cNvSpPr>
            <a:spLocks noGrp="1"/>
          </p:cNvSpPr>
          <p:nvPr/>
        </p:nvSpPr>
        <p:spPr>
          <a:xfrm>
            <a:off x="3752850" y="3124200"/>
            <a:ext cx="895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F0277A-943E-4FEF-8A26-D39DE9EC2A36}"/>
              </a:ext>
            </a:extLst>
          </p:cNvPr>
          <p:cNvSpPr>
            <a:spLocks noGrp="1"/>
          </p:cNvSpPr>
          <p:nvPr/>
        </p:nvSpPr>
        <p:spPr>
          <a:xfrm>
            <a:off x="4838700" y="3219450"/>
            <a:ext cx="28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5F0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node-Docker">
            <a:extLst>
              <a:ext uri="{FF2B5EF4-FFF2-40B4-BE49-F238E27FC236}">
                <a16:creationId xmlns:a16="http://schemas.microsoft.com/office/drawing/2014/main" id="{37EB5B98-2D4F-4681-8739-76FAD3E00CF7}"/>
              </a:ext>
            </a:extLst>
          </p:cNvPr>
          <p:cNvSpPr>
            <a:spLocks noGrp="1"/>
          </p:cNvSpPr>
          <p:nvPr/>
        </p:nvSpPr>
        <p:spPr>
          <a:xfrm>
            <a:off x="5181600" y="2971800"/>
            <a:ext cx="11620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919CCE-6171-4B65-96D9-8080140463A6}"/>
              </a:ext>
            </a:extLst>
          </p:cNvPr>
          <p:cNvSpPr>
            <a:spLocks noGrp="1"/>
          </p:cNvSpPr>
          <p:nvPr/>
        </p:nvSpPr>
        <p:spPr>
          <a:xfrm>
            <a:off x="5314950" y="3124200"/>
            <a:ext cx="895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Docker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A65F5F-61C5-447F-970D-206EEA4DD988}"/>
              </a:ext>
            </a:extLst>
          </p:cNvPr>
          <p:cNvSpPr>
            <a:spLocks noGrp="1"/>
          </p:cNvSpPr>
          <p:nvPr/>
        </p:nvSpPr>
        <p:spPr>
          <a:xfrm>
            <a:off x="6400800" y="3219450"/>
            <a:ext cx="28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5F0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1" name="node-Cloud Build">
            <a:extLst>
              <a:ext uri="{FF2B5EF4-FFF2-40B4-BE49-F238E27FC236}">
                <a16:creationId xmlns:a16="http://schemas.microsoft.com/office/drawing/2014/main" id="{3238EDCC-F8A6-4B53-9FDA-3A0D9AC46561}"/>
              </a:ext>
            </a:extLst>
          </p:cNvPr>
          <p:cNvSpPr>
            <a:spLocks noGrp="1"/>
          </p:cNvSpPr>
          <p:nvPr/>
        </p:nvSpPr>
        <p:spPr>
          <a:xfrm>
            <a:off x="6743700" y="2971800"/>
            <a:ext cx="11620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D5E53E-F0E3-4AE5-91CD-4ED29E3CC32A}"/>
              </a:ext>
            </a:extLst>
          </p:cNvPr>
          <p:cNvSpPr>
            <a:spLocks noGrp="1"/>
          </p:cNvSpPr>
          <p:nvPr/>
        </p:nvSpPr>
        <p:spPr>
          <a:xfrm>
            <a:off x="6877050" y="3124200"/>
            <a:ext cx="895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Cloud Build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B49969-3ED9-4EE1-96A7-A721BD6EF590}"/>
              </a:ext>
            </a:extLst>
          </p:cNvPr>
          <p:cNvSpPr>
            <a:spLocks noGrp="1"/>
          </p:cNvSpPr>
          <p:nvPr/>
        </p:nvSpPr>
        <p:spPr>
          <a:xfrm>
            <a:off x="7962900" y="3219450"/>
            <a:ext cx="28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5F0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4" name="node-Artifact Registry">
            <a:extLst>
              <a:ext uri="{FF2B5EF4-FFF2-40B4-BE49-F238E27FC236}">
                <a16:creationId xmlns:a16="http://schemas.microsoft.com/office/drawing/2014/main" id="{7BB93D10-7FAE-4FF5-807A-6FEF449CB2A6}"/>
              </a:ext>
            </a:extLst>
          </p:cNvPr>
          <p:cNvSpPr>
            <a:spLocks noGrp="1"/>
          </p:cNvSpPr>
          <p:nvPr/>
        </p:nvSpPr>
        <p:spPr>
          <a:xfrm>
            <a:off x="8305800" y="2971800"/>
            <a:ext cx="11620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482E87-3CD6-4C15-9E9D-35BC6B67EA6B}"/>
              </a:ext>
            </a:extLst>
          </p:cNvPr>
          <p:cNvSpPr>
            <a:spLocks noGrp="1"/>
          </p:cNvSpPr>
          <p:nvPr/>
        </p:nvSpPr>
        <p:spPr>
          <a:xfrm>
            <a:off x="8439150" y="3124200"/>
            <a:ext cx="895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Artifact Registry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A3EB5D-65B8-4B52-B3F3-A8F70FEA4DF7}"/>
              </a:ext>
            </a:extLst>
          </p:cNvPr>
          <p:cNvSpPr>
            <a:spLocks noGrp="1"/>
          </p:cNvSpPr>
          <p:nvPr/>
        </p:nvSpPr>
        <p:spPr>
          <a:xfrm>
            <a:off x="9525000" y="3219450"/>
            <a:ext cx="28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D95F0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5F0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7" name="node-Cloud Run">
            <a:extLst>
              <a:ext uri="{FF2B5EF4-FFF2-40B4-BE49-F238E27FC236}">
                <a16:creationId xmlns:a16="http://schemas.microsoft.com/office/drawing/2014/main" id="{EFCEC8D9-F0B9-4A34-88CF-ABFF473FAAA7}"/>
              </a:ext>
            </a:extLst>
          </p:cNvPr>
          <p:cNvSpPr>
            <a:spLocks noGrp="1"/>
          </p:cNvSpPr>
          <p:nvPr/>
        </p:nvSpPr>
        <p:spPr>
          <a:xfrm>
            <a:off x="9867900" y="2971800"/>
            <a:ext cx="1162050" cy="742950"/>
          </a:xfrm>
          <a:prstGeom prst="rect">
            <a:avLst/>
          </a:prstGeom>
          <a:solidFill>
            <a:srgbClr val="EAF3EC"/>
          </a:solidFill>
          <a:ln w="9525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CE180A-742C-4843-9F94-90274E0458BE}"/>
              </a:ext>
            </a:extLst>
          </p:cNvPr>
          <p:cNvSpPr>
            <a:spLocks noGrp="1"/>
          </p:cNvSpPr>
          <p:nvPr/>
        </p:nvSpPr>
        <p:spPr>
          <a:xfrm>
            <a:off x="10001250" y="3124200"/>
            <a:ext cx="895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ctr"/>
          <a:lstStyle/>
          <a:p>
            <a:pPr algn="ctr">
              <a:defRPr sz="975" b="1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32E"/>
                </a:solidFill>
                <a:latin typeface="Aptos"/>
                <a:ea typeface="Aptos"/>
                <a:cs typeface="Aptos"/>
              </a:rPr>
              <a:t>Cloud Run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6469EE-EFA2-4126-87BC-984D60EE0AC4}"/>
              </a:ext>
            </a:extLst>
          </p:cNvPr>
          <p:cNvSpPr>
            <a:spLocks noGrp="1"/>
          </p:cNvSpPr>
          <p:nvPr/>
        </p:nvSpPr>
        <p:spPr>
          <a:xfrm>
            <a:off x="971550" y="5029200"/>
            <a:ext cx="66675" cy="66675"/>
          </a:xfrm>
          <a:prstGeom prst="rect">
            <a:avLst/>
          </a:prstGeom>
          <a:solidFill>
            <a:srgbClr val="2166A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F6970E-D95A-44A6-8120-47B7A66819FF}"/>
              </a:ext>
            </a:extLst>
          </p:cNvPr>
          <p:cNvSpPr>
            <a:spLocks noGrp="1"/>
          </p:cNvSpPr>
          <p:nvPr/>
        </p:nvSpPr>
        <p:spPr>
          <a:xfrm>
            <a:off x="1162050" y="4953000"/>
            <a:ext cx="1009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RStudio remains the development entry point.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3CCA29-2C6E-4085-8DAC-43250162A458}"/>
              </a:ext>
            </a:extLst>
          </p:cNvPr>
          <p:cNvSpPr>
            <a:spLocks noGrp="1"/>
          </p:cNvSpPr>
          <p:nvPr/>
        </p:nvSpPr>
        <p:spPr>
          <a:xfrm>
            <a:off x="971550" y="5295900"/>
            <a:ext cx="66675" cy="66675"/>
          </a:xfrm>
          <a:prstGeom prst="rect">
            <a:avLst/>
          </a:prstGeom>
          <a:solidFill>
            <a:srgbClr val="2166A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981ED2-BA12-408B-A374-08CD8D95F477}"/>
              </a:ext>
            </a:extLst>
          </p:cNvPr>
          <p:cNvSpPr>
            <a:spLocks noGrp="1"/>
          </p:cNvSpPr>
          <p:nvPr/>
        </p:nvSpPr>
        <p:spPr>
          <a:xfrm>
            <a:off x="1162050" y="5219700"/>
            <a:ext cx="1009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Shiny or Plumber exposes an app or prediction API.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716075-9634-4814-ABD7-FA297B64FA59}"/>
              </a:ext>
            </a:extLst>
          </p:cNvPr>
          <p:cNvSpPr>
            <a:spLocks noGrp="1"/>
          </p:cNvSpPr>
          <p:nvPr/>
        </p:nvSpPr>
        <p:spPr>
          <a:xfrm>
            <a:off x="971550" y="5562600"/>
            <a:ext cx="66675" cy="66675"/>
          </a:xfrm>
          <a:prstGeom prst="rect">
            <a:avLst/>
          </a:prstGeom>
          <a:solidFill>
            <a:srgbClr val="2166A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BA7AFB-BD35-461B-B6AF-929546BD2C01}"/>
              </a:ext>
            </a:extLst>
          </p:cNvPr>
          <p:cNvSpPr>
            <a:spLocks noGrp="1"/>
          </p:cNvSpPr>
          <p:nvPr/>
        </p:nvSpPr>
        <p:spPr>
          <a:xfrm>
            <a:off x="1162050" y="5486400"/>
            <a:ext cx="1009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GitHub and Docker preserve code and runtime.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5A8897-A534-4505-8244-83B675677BA3}"/>
              </a:ext>
            </a:extLst>
          </p:cNvPr>
          <p:cNvSpPr>
            <a:spLocks noGrp="1"/>
          </p:cNvSpPr>
          <p:nvPr/>
        </p:nvSpPr>
        <p:spPr>
          <a:xfrm>
            <a:off x="971550" y="5829300"/>
            <a:ext cx="66675" cy="66675"/>
          </a:xfrm>
          <a:prstGeom prst="rect">
            <a:avLst/>
          </a:prstGeom>
          <a:solidFill>
            <a:srgbClr val="2166A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9795495-215F-417C-B54E-0D1FCC3D149D}"/>
              </a:ext>
            </a:extLst>
          </p:cNvPr>
          <p:cNvSpPr>
            <a:spLocks noGrp="1"/>
          </p:cNvSpPr>
          <p:nvPr/>
        </p:nvSpPr>
        <p:spPr>
          <a:xfrm>
            <a:off x="1162050" y="5753100"/>
            <a:ext cx="1009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Cloud Build publishes images to Artifact Registry.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6CA7630-EE0F-4C4D-9945-A244F59DF877}"/>
              </a:ext>
            </a:extLst>
          </p:cNvPr>
          <p:cNvSpPr>
            <a:spLocks noGrp="1"/>
          </p:cNvSpPr>
          <p:nvPr/>
        </p:nvSpPr>
        <p:spPr>
          <a:xfrm>
            <a:off x="971550" y="6096000"/>
            <a:ext cx="66675" cy="66675"/>
          </a:xfrm>
          <a:prstGeom prst="rect">
            <a:avLst/>
          </a:prstGeom>
          <a:solidFill>
            <a:srgbClr val="2166A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8D80B28-7489-418C-B384-C60A5C6E1C19}"/>
              </a:ext>
            </a:extLst>
          </p:cNvPr>
          <p:cNvSpPr>
            <a:spLocks noGrp="1"/>
          </p:cNvSpPr>
          <p:nvPr/>
        </p:nvSpPr>
        <p:spPr>
          <a:xfrm>
            <a:off x="1162050" y="6019800"/>
            <a:ext cx="1009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623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32E"/>
                </a:solidFill>
                <a:latin typeface="Aptos"/>
                <a:ea typeface="Aptos"/>
                <a:cs typeface="Aptos"/>
              </a:rPr>
              <a:t>Cloud Run serves the model without managing servers.</a:t>
            </a:r>
          </a:p>
        </p:txBody>
      </p:sp>
    </p:spTree>
    <p:extLst>
      <p:ext uri="{BB962C8B-B14F-4D97-AF65-F5344CB8AC3E}">
        <p14:creationId xmlns:p14="http://schemas.microsoft.com/office/powerpoint/2010/main" val="789030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ackground">
            <a:extLst>
              <a:ext uri="{FF2B5EF4-FFF2-40B4-BE49-F238E27FC236}">
                <a16:creationId xmlns:a16="http://schemas.microsoft.com/office/drawing/2014/main" id="{7452E162-F4ED-4390-8ABC-697E962107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3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F7C138-B7C5-4116-8020-82A0988DAFC9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B7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B78F"/>
                </a:solidFill>
                <a:latin typeface="Aptos"/>
                <a:ea typeface="Aptos"/>
                <a:cs typeface="Aptos"/>
              </a:rPr>
              <a:t>FINAL SYNTHESIS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BADB20-33D9-4ACF-B4F9-BD75266F677E}"/>
              </a:ext>
            </a:extLst>
          </p:cNvPr>
          <p:cNvSpPr>
            <a:spLocks noGrp="1"/>
          </p:cNvSpPr>
          <p:nvPr/>
        </p:nvSpPr>
        <p:spPr>
          <a:xfrm>
            <a:off x="666750" y="1276350"/>
            <a:ext cx="83820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defendable notebook-centered workflow, ready for operationalization.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63076A-D26C-4B6E-98A0-00EEC126E463}"/>
              </a:ext>
            </a:extLst>
          </p:cNvPr>
          <p:cNvSpPr>
            <a:spLocks noGrp="1"/>
          </p:cNvSpPr>
          <p:nvPr/>
        </p:nvSpPr>
        <p:spPr>
          <a:xfrm>
            <a:off x="742950" y="2914650"/>
            <a:ext cx="10287000" cy="9525"/>
          </a:xfrm>
          <a:prstGeom prst="rect">
            <a:avLst/>
          </a:prstGeom>
          <a:solidFill>
            <a:srgbClr val="3248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5" name="metric-data integrity">
            <a:extLst>
              <a:ext uri="{FF2B5EF4-FFF2-40B4-BE49-F238E27FC236}">
                <a16:creationId xmlns:a16="http://schemas.microsoft.com/office/drawing/2014/main" id="{F417863D-B4F8-4617-8B6D-69E81572D085}"/>
              </a:ext>
            </a:extLst>
          </p:cNvPr>
          <p:cNvSpPr>
            <a:spLocks noGrp="1"/>
          </p:cNvSpPr>
          <p:nvPr/>
        </p:nvSpPr>
        <p:spPr>
          <a:xfrm>
            <a:off x="876300" y="3448050"/>
            <a:ext cx="1809750" cy="952500"/>
          </a:xfrm>
          <a:prstGeom prst="rect">
            <a:avLst/>
          </a:prstGeom>
          <a:solidFill>
            <a:srgbClr val="203241"/>
          </a:solidFill>
          <a:ln w="9525">
            <a:solidFill>
              <a:srgbClr val="32485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BAA4B-1315-4E2C-8A35-6B4D9912159F}"/>
              </a:ext>
            </a:extLst>
          </p:cNvPr>
          <p:cNvSpPr>
            <a:spLocks noGrp="1"/>
          </p:cNvSpPr>
          <p:nvPr/>
        </p:nvSpPr>
        <p:spPr>
          <a:xfrm>
            <a:off x="1047750" y="3600450"/>
            <a:ext cx="146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5B78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B78F"/>
                </a:solidFill>
                <a:latin typeface="Aptos Display"/>
                <a:ea typeface="Aptos Display"/>
                <a:cs typeface="Aptos Display"/>
              </a:rPr>
              <a:t>clean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6929F8-2BF0-44DF-8E55-183176C4FDA6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1466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data integrity</a:t>
            </a:r>
          </a:p>
        </p:txBody>
      </p:sp>
      <p:sp>
        <p:nvSpPr>
          <p:cNvPr id="8" name="metric-selection">
            <a:extLst>
              <a:ext uri="{FF2B5EF4-FFF2-40B4-BE49-F238E27FC236}">
                <a16:creationId xmlns:a16="http://schemas.microsoft.com/office/drawing/2014/main" id="{7389BE4D-E456-4798-86CE-29F38C96B262}"/>
              </a:ext>
            </a:extLst>
          </p:cNvPr>
          <p:cNvSpPr>
            <a:spLocks noGrp="1"/>
          </p:cNvSpPr>
          <p:nvPr/>
        </p:nvSpPr>
        <p:spPr>
          <a:xfrm>
            <a:off x="3048000" y="3448050"/>
            <a:ext cx="1809750" cy="952500"/>
          </a:xfrm>
          <a:prstGeom prst="rect">
            <a:avLst/>
          </a:prstGeom>
          <a:solidFill>
            <a:srgbClr val="203241"/>
          </a:solidFill>
          <a:ln w="9525">
            <a:solidFill>
              <a:srgbClr val="32485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D6AD9E-1D14-480C-913A-C96FE4FB399C}"/>
              </a:ext>
            </a:extLst>
          </p:cNvPr>
          <p:cNvSpPr>
            <a:spLocks noGrp="1"/>
          </p:cNvSpPr>
          <p:nvPr/>
        </p:nvSpPr>
        <p:spPr>
          <a:xfrm>
            <a:off x="3219450" y="3600450"/>
            <a:ext cx="146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5B78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B78F"/>
                </a:solidFill>
                <a:latin typeface="Aptos Display"/>
                <a:ea typeface="Aptos Display"/>
                <a:cs typeface="Aptos Display"/>
              </a:rPr>
              <a:t>CV-led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2A3A9-638D-40C0-BCD7-F11A5C667804}"/>
              </a:ext>
            </a:extLst>
          </p:cNvPr>
          <p:cNvSpPr>
            <a:spLocks noGrp="1"/>
          </p:cNvSpPr>
          <p:nvPr/>
        </p:nvSpPr>
        <p:spPr>
          <a:xfrm>
            <a:off x="3219450" y="4000500"/>
            <a:ext cx="1466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selection</a:t>
            </a:r>
          </a:p>
        </p:txBody>
      </p:sp>
      <p:sp>
        <p:nvSpPr>
          <p:cNvPr id="11" name="metric-winner">
            <a:extLst>
              <a:ext uri="{FF2B5EF4-FFF2-40B4-BE49-F238E27FC236}">
                <a16:creationId xmlns:a16="http://schemas.microsoft.com/office/drawing/2014/main" id="{895D3DB5-97A0-4385-B00B-8C1B02131995}"/>
              </a:ext>
            </a:extLst>
          </p:cNvPr>
          <p:cNvSpPr>
            <a:spLocks noGrp="1"/>
          </p:cNvSpPr>
          <p:nvPr/>
        </p:nvSpPr>
        <p:spPr>
          <a:xfrm>
            <a:off x="5219700" y="3448050"/>
            <a:ext cx="1809750" cy="952500"/>
          </a:xfrm>
          <a:prstGeom prst="rect">
            <a:avLst/>
          </a:prstGeom>
          <a:solidFill>
            <a:srgbClr val="203241"/>
          </a:solidFill>
          <a:ln w="9525">
            <a:solidFill>
              <a:srgbClr val="32485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907FDE-74FB-4C17-930F-20671AA30E1B}"/>
              </a:ext>
            </a:extLst>
          </p:cNvPr>
          <p:cNvSpPr>
            <a:spLocks noGrp="1"/>
          </p:cNvSpPr>
          <p:nvPr/>
        </p:nvSpPr>
        <p:spPr>
          <a:xfrm>
            <a:off x="5391150" y="3600450"/>
            <a:ext cx="146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5B78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B78F"/>
                </a:solidFill>
                <a:latin typeface="Aptos Display"/>
                <a:ea typeface="Aptos Display"/>
                <a:cs typeface="Aptos Display"/>
              </a:rPr>
              <a:t>RF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EC6C85-2390-4A74-948E-2F8ACF9153BB}"/>
              </a:ext>
            </a:extLst>
          </p:cNvPr>
          <p:cNvSpPr>
            <a:spLocks noGrp="1"/>
          </p:cNvSpPr>
          <p:nvPr/>
        </p:nvSpPr>
        <p:spPr>
          <a:xfrm>
            <a:off x="5391150" y="4000500"/>
            <a:ext cx="1466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winner</a:t>
            </a:r>
          </a:p>
        </p:txBody>
      </p:sp>
      <p:sp>
        <p:nvSpPr>
          <p:cNvPr id="14" name="metric-delivery">
            <a:extLst>
              <a:ext uri="{FF2B5EF4-FFF2-40B4-BE49-F238E27FC236}">
                <a16:creationId xmlns:a16="http://schemas.microsoft.com/office/drawing/2014/main" id="{F3E4C055-FAFF-4908-9D91-D00D63060059}"/>
              </a:ext>
            </a:extLst>
          </p:cNvPr>
          <p:cNvSpPr>
            <a:spLocks noGrp="1"/>
          </p:cNvSpPr>
          <p:nvPr/>
        </p:nvSpPr>
        <p:spPr>
          <a:xfrm>
            <a:off x="7391400" y="3448050"/>
            <a:ext cx="2286000" cy="952500"/>
          </a:xfrm>
          <a:prstGeom prst="rect">
            <a:avLst/>
          </a:prstGeom>
          <a:solidFill>
            <a:srgbClr val="203241"/>
          </a:solidFill>
          <a:ln w="9525">
            <a:solidFill>
              <a:srgbClr val="32485A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C1B0D2-F8C5-4E0B-8F98-34E875178C99}"/>
              </a:ext>
            </a:extLst>
          </p:cNvPr>
          <p:cNvSpPr>
            <a:spLocks noGrp="1"/>
          </p:cNvSpPr>
          <p:nvPr/>
        </p:nvSpPr>
        <p:spPr>
          <a:xfrm>
            <a:off x="7562850" y="3600450"/>
            <a:ext cx="1943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5B78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5B78F"/>
                </a:solidFill>
                <a:latin typeface="Aptos Display"/>
                <a:ea typeface="Aptos Display"/>
                <a:cs typeface="Aptos Display"/>
              </a:rPr>
              <a:t>target_pred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0EFF83-B102-40C5-934C-8DF818B8D1B6}"/>
              </a:ext>
            </a:extLst>
          </p:cNvPr>
          <p:cNvSpPr>
            <a:spLocks noGrp="1"/>
          </p:cNvSpPr>
          <p:nvPr/>
        </p:nvSpPr>
        <p:spPr>
          <a:xfrm>
            <a:off x="7562850" y="4000500"/>
            <a:ext cx="1943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delivery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EF4216-0D9C-475A-9890-82D1484E90C3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914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D7DE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EE8"/>
                </a:solidFill>
                <a:latin typeface="Aptos"/>
                <a:ea typeface="Aptos"/>
                <a:cs typeface="Aptos"/>
              </a:rPr>
              <a:t>The strongest story is not only that Random Forest won; it is that the workflow makes that choice auditable.</a:t>
            </a:r>
          </a:p>
        </p:txBody>
      </p:sp>
      <p:sp>
        <p:nvSpPr>
          <p:cNvPr id="19" name="page-marker">
            <a:extLst>
              <a:ext uri="{FF2B5EF4-FFF2-40B4-BE49-F238E27FC236}">
                <a16:creationId xmlns:a16="http://schemas.microsoft.com/office/drawing/2014/main" id="{91D10B15-0678-4227-ACCD-64BC94AAB493}"/>
              </a:ext>
            </a:extLst>
          </p:cNvPr>
          <p:cNvSpPr>
            <a:spLocks noGrp="1"/>
          </p:cNvSpPr>
          <p:nvPr/>
        </p:nvSpPr>
        <p:spPr>
          <a:xfrm>
            <a:off x="11410950" y="64198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D7DE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EE8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2810924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1913</Words>
  <Application>Microsoft Macintosh PowerPoint</Application>
  <DocSecurity>0</DocSecurity>
  <PresentationFormat>Widescreen</PresentationFormat>
  <Paragraphs>430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Maria Rebeca Caldas Gomez</cp:lastModifiedBy>
  <cp:revision>1</cp:revision>
  <dcterms:created xsi:type="dcterms:W3CDTF">2026-05-14T05:18:39Z</dcterms:created>
  <dcterms:modified xsi:type="dcterms:W3CDTF">2026-05-14T13:52:50Z</dcterms:modified>
</cp:coreProperties>
</file>